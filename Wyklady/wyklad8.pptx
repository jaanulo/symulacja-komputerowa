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4"/>
  </p:sldMasterIdLst>
  <p:notesMasterIdLst>
    <p:notesMasterId r:id="rId21"/>
  </p:notesMasterIdLst>
  <p:sldIdLst>
    <p:sldId id="256" r:id="rId5"/>
    <p:sldId id="298" r:id="rId6"/>
    <p:sldId id="299" r:id="rId7"/>
    <p:sldId id="303" r:id="rId8"/>
    <p:sldId id="304" r:id="rId9"/>
    <p:sldId id="306" r:id="rId10"/>
    <p:sldId id="305" r:id="rId11"/>
    <p:sldId id="300" r:id="rId12"/>
    <p:sldId id="308" r:id="rId13"/>
    <p:sldId id="302" r:id="rId14"/>
    <p:sldId id="301" r:id="rId15"/>
    <p:sldId id="307" r:id="rId16"/>
    <p:sldId id="309" r:id="rId17"/>
    <p:sldId id="310" r:id="rId18"/>
    <p:sldId id="311" r:id="rId19"/>
    <p:sldId id="312" r:id="rId20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A1"/>
    <a:srgbClr val="A71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6D306-A266-C043-ECDB-4348D9AD499F}" v="6" dt="2025-12-11T19:22:54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usz Gąsior" userId="S::dariusz.gasior@pwr.edu.pl::38c81fd4-a3ba-4ef8-a788-c9e31baa724f" providerId="AD" clId="Web-{7B76D306-A266-C043-ECDB-4348D9AD499F}"/>
    <pc:docChg chg="modSld">
      <pc:chgData name="Dariusz Gąsior" userId="S::dariusz.gasior@pwr.edu.pl::38c81fd4-a3ba-4ef8-a788-c9e31baa724f" providerId="AD" clId="Web-{7B76D306-A266-C043-ECDB-4348D9AD499F}" dt="2025-12-11T19:22:54.544" v="4" actId="20577"/>
      <pc:docMkLst>
        <pc:docMk/>
      </pc:docMkLst>
      <pc:sldChg chg="modSp">
        <pc:chgData name="Dariusz Gąsior" userId="S::dariusz.gasior@pwr.edu.pl::38c81fd4-a3ba-4ef8-a788-c9e31baa724f" providerId="AD" clId="Web-{7B76D306-A266-C043-ECDB-4348D9AD499F}" dt="2025-12-11T19:22:54.544" v="4" actId="20577"/>
        <pc:sldMkLst>
          <pc:docMk/>
          <pc:sldMk cId="0" sldId="256"/>
        </pc:sldMkLst>
        <pc:spChg chg="mod">
          <ac:chgData name="Dariusz Gąsior" userId="S::dariusz.gasior@pwr.edu.pl::38c81fd4-a3ba-4ef8-a788-c9e31baa724f" providerId="AD" clId="Web-{7B76D306-A266-C043-ECDB-4348D9AD499F}" dt="2025-12-11T19:22:54.544" v="4" actId="20577"/>
          <ac:spMkLst>
            <pc:docMk/>
            <pc:sldMk cId="0" sldId="256"/>
            <ac:spMk id="1290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25D14-7191-7A41-B01F-011AA8CB6093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27150" y="1085850"/>
            <a:ext cx="390842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55638" y="4179888"/>
            <a:ext cx="5251450" cy="34210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717925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D38DD-8B54-8045-AAB4-F8395B7CE60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772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Metoda akceptacji i odrzuceń – „Typowe</a:t>
            </a:r>
            <a:r>
              <a:rPr lang="pl-PL" baseline="0"/>
              <a:t> Monte Carlo”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lang="pl-PL" baseline="0" err="1"/>
              <a:t>Cwiartka</a:t>
            </a:r>
            <a:r>
              <a:rPr lang="pl-PL" baseline="0"/>
              <a:t> koła o r = 1, cztery pola równe pi</a:t>
            </a:r>
          </a:p>
          <a:p>
            <a:pPr marL="228600" indent="-228600">
              <a:buAutoNum type="alphaLcPeriod"/>
            </a:pPr>
            <a:r>
              <a:rPr lang="pl-PL" baseline="0" err="1"/>
              <a:t>Calkowanie</a:t>
            </a:r>
            <a:r>
              <a:rPr lang="pl-PL" baseline="0"/>
              <a:t> numeryczne Losujemy N </a:t>
            </a:r>
            <a:r>
              <a:rPr lang="pl-PL" baseline="0" err="1"/>
              <a:t>punktow</a:t>
            </a:r>
            <a:r>
              <a:rPr lang="pl-PL" baseline="0"/>
              <a:t> z </a:t>
            </a:r>
            <a:r>
              <a:rPr lang="pl-PL" baseline="0" err="1"/>
              <a:t>prostokątu</a:t>
            </a:r>
            <a:r>
              <a:rPr lang="pl-PL" baseline="0"/>
              <a:t> [</a:t>
            </a:r>
            <a:r>
              <a:rPr lang="pl-PL" baseline="0" err="1"/>
              <a:t>a,b</a:t>
            </a:r>
            <a:r>
              <a:rPr lang="pl-PL" baseline="0"/>
              <a:t>] x [0, d] liczymy te pod wykresem – k, I = k/n * (b-a)*d</a:t>
            </a:r>
          </a:p>
          <a:p>
            <a:pPr marL="228600" indent="-228600">
              <a:buAutoNum type="alphaLcPeriod"/>
            </a:pPr>
            <a:r>
              <a:rPr lang="pl-PL" baseline="0"/>
              <a:t>Symulacja </a:t>
            </a:r>
            <a:r>
              <a:rPr lang="pl-PL" baseline="0" err="1"/>
              <a:t>sprzedazy</a:t>
            </a:r>
            <a:r>
              <a:rPr lang="pl-PL" baseline="0"/>
              <a:t> – po ilu dniach zamówić kolejną dostawę</a:t>
            </a:r>
          </a:p>
          <a:p>
            <a:pPr marL="228600" indent="-228600">
              <a:buAutoNum type="alphaLcPeriod"/>
            </a:pP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4860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/>
              <a:t>Igła bufona</a:t>
            </a:r>
            <a:r>
              <a:rPr lang="pl-PL" baseline="0"/>
              <a:t> o długości l i z siatką o odstępie L &gt;= l między liniami, daje oszacowanie pi = 2 l N / (L R), gdzie R – liczba przecięć z liniami a N liczba rzutów igła</a:t>
            </a:r>
          </a:p>
          <a:p>
            <a:pPr marL="0" indent="0">
              <a:buNone/>
            </a:pPr>
            <a:r>
              <a:rPr lang="pl-PL" baseline="0"/>
              <a:t>Rzucamy igłą, a zatem losujemy położenie jej środka i kąt (z rozkładów równomiernych U(0,L/2), U(0,pi/2)</a:t>
            </a: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3769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/>
              <a:t>X należy do przedziału [</a:t>
            </a:r>
            <a:r>
              <a:rPr lang="pl-PL" err="1"/>
              <a:t>xp</a:t>
            </a:r>
            <a:r>
              <a:rPr lang="pl-PL"/>
              <a:t>, </a:t>
            </a:r>
            <a:r>
              <a:rPr lang="pl-PL" err="1"/>
              <a:t>xk</a:t>
            </a:r>
            <a:r>
              <a:rPr lang="pl-PL"/>
              <a:t>]</a:t>
            </a:r>
          </a:p>
          <a:p>
            <a:pPr marL="0" indent="0">
              <a:buNone/>
            </a:pPr>
            <a:r>
              <a:rPr lang="pl-PL"/>
              <a:t>Y należy do przedziału [</a:t>
            </a:r>
            <a:r>
              <a:rPr lang="pl-PL" err="1"/>
              <a:t>yp</a:t>
            </a:r>
            <a:r>
              <a:rPr lang="pl-PL"/>
              <a:t>,</a:t>
            </a:r>
            <a:r>
              <a:rPr lang="pl-PL" baseline="0"/>
              <a:t> </a:t>
            </a:r>
            <a:r>
              <a:rPr lang="pl-PL" baseline="0" err="1"/>
              <a:t>yk</a:t>
            </a:r>
            <a:r>
              <a:rPr lang="pl-PL" baseline="0"/>
              <a:t>] zaw. w [f(</a:t>
            </a:r>
            <a:r>
              <a:rPr lang="pl-PL" baseline="0" err="1"/>
              <a:t>xp</a:t>
            </a:r>
            <a:r>
              <a:rPr lang="pl-PL" baseline="0"/>
              <a:t>), f(</a:t>
            </a:r>
            <a:r>
              <a:rPr lang="pl-PL" baseline="0" err="1"/>
              <a:t>xk</a:t>
            </a:r>
            <a:r>
              <a:rPr lang="pl-PL" baseline="0"/>
              <a:t>)]</a:t>
            </a: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6066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err="1"/>
              <a:t>Crude</a:t>
            </a:r>
            <a:r>
              <a:rPr lang="pl-PL"/>
              <a:t> Monte</a:t>
            </a:r>
            <a:r>
              <a:rPr lang="pl-PL" baseline="0"/>
              <a:t> Carlo – tłum. Podstawowa Monte Carlo</a:t>
            </a:r>
          </a:p>
          <a:p>
            <a:pPr marL="0" indent="0">
              <a:buNone/>
            </a:pPr>
            <a:r>
              <a:rPr lang="pl-PL" baseline="0"/>
              <a:t>* oparta na prawie wielkich liczb</a:t>
            </a: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3062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/>
              <a:t>Dokonujemy „próbkowania losowego”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3436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Metoda akceptacji i odrzuceń – „Typowe</a:t>
            </a:r>
            <a:r>
              <a:rPr lang="pl-PL" baseline="0"/>
              <a:t> Monte Carlo”</a:t>
            </a:r>
          </a:p>
          <a:p>
            <a:pPr marL="228600" indent="-228600">
              <a:buAutoNum type="alphaLcPeriod"/>
            </a:pPr>
            <a:r>
              <a:rPr lang="pl-PL" baseline="0" err="1"/>
              <a:t>Calkowanie</a:t>
            </a:r>
            <a:r>
              <a:rPr lang="pl-PL" baseline="0"/>
              <a:t> numeryczne Losujemy N </a:t>
            </a:r>
            <a:r>
              <a:rPr lang="pl-PL" baseline="0" err="1"/>
              <a:t>punktow</a:t>
            </a:r>
            <a:r>
              <a:rPr lang="pl-PL" baseline="0"/>
              <a:t> z </a:t>
            </a:r>
            <a:r>
              <a:rPr lang="pl-PL" baseline="0" err="1"/>
              <a:t>prostokątu</a:t>
            </a:r>
            <a:r>
              <a:rPr lang="pl-PL" baseline="0"/>
              <a:t> [</a:t>
            </a:r>
            <a:r>
              <a:rPr lang="pl-PL" baseline="0" err="1"/>
              <a:t>a,b</a:t>
            </a:r>
            <a:r>
              <a:rPr lang="pl-PL" baseline="0"/>
              <a:t>] x [0, d] liczymy te pod wykresem – k, I = k/n * (b-a)*d</a:t>
            </a:r>
          </a:p>
          <a:p>
            <a:pPr marL="228600" indent="-228600">
              <a:buAutoNum type="alphaLcPeriod"/>
            </a:pPr>
            <a:r>
              <a:rPr lang="pl-PL" baseline="0" err="1"/>
              <a:t>Cwiartka</a:t>
            </a:r>
            <a:r>
              <a:rPr lang="pl-PL" baseline="0"/>
              <a:t> koła o r = 1, cztery pola równe pi</a:t>
            </a:r>
          </a:p>
          <a:p>
            <a:pPr marL="228600" indent="-228600">
              <a:buAutoNum type="alphaLcPeriod"/>
            </a:pPr>
            <a:r>
              <a:rPr lang="pl-PL" baseline="0"/>
              <a:t>Symulacja </a:t>
            </a:r>
            <a:r>
              <a:rPr lang="pl-PL" baseline="0" err="1"/>
              <a:t>sprzedazy</a:t>
            </a:r>
            <a:r>
              <a:rPr lang="pl-PL" baseline="0"/>
              <a:t> – po ilu dniach zamówić kolejną dostawę</a:t>
            </a:r>
          </a:p>
          <a:p>
            <a:pPr marL="228600" indent="-228600">
              <a:buAutoNum type="alphaLcPeriod"/>
            </a:pP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1568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X – </a:t>
            </a:r>
          </a:p>
          <a:p>
            <a:r>
              <a:rPr lang="pl-PL" sz="1200"/>
              <a:t>Y - </a:t>
            </a:r>
          </a:p>
          <a:p>
            <a:r>
              <a:rPr lang="pl-PL" sz="1200"/>
              <a:t>C – wielkości, </a:t>
            </a:r>
            <a:r>
              <a:rPr lang="pl-PL" sz="1200" err="1"/>
              <a:t>które</a:t>
            </a:r>
            <a:r>
              <a:rPr lang="pl-PL" sz="1200"/>
              <a:t> mają wpływ na działanie układu, ale ich </a:t>
            </a:r>
            <a:r>
              <a:rPr lang="pl-PL" sz="1200" err="1"/>
              <a:t>wartości</a:t>
            </a:r>
            <a:r>
              <a:rPr lang="pl-PL" sz="1200"/>
              <a:t> </a:t>
            </a:r>
            <a:r>
              <a:rPr lang="pl-PL" sz="1200" err="1"/>
              <a:t>sa</a:t>
            </a:r>
            <a:r>
              <a:rPr lang="pl-PL" sz="1200"/>
              <a:t>̨ ustalone i niezmienne w czasie, przez co </a:t>
            </a:r>
            <a:r>
              <a:rPr lang="pl-PL" sz="1200" err="1"/>
              <a:t>moga</a:t>
            </a:r>
            <a:r>
              <a:rPr lang="pl-PL" sz="1200"/>
              <a:t>̨ </a:t>
            </a:r>
            <a:r>
              <a:rPr lang="pl-PL" sz="1200" err="1"/>
              <a:t>zostac</a:t>
            </a:r>
            <a:r>
              <a:rPr lang="pl-PL" sz="1200"/>
              <a:t>́ </a:t>
            </a:r>
            <a:r>
              <a:rPr lang="pl-PL" sz="1200" err="1"/>
              <a:t>pominięte</a:t>
            </a:r>
            <a:r>
              <a:rPr lang="pl-PL" sz="1200"/>
              <a:t> w analizie statystycznej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/>
              <a:t>Z – wielkości,</a:t>
            </a:r>
            <a:r>
              <a:rPr lang="pl-PL" sz="1200" baseline="0"/>
              <a:t> </a:t>
            </a:r>
            <a:r>
              <a:rPr lang="pl-PL" sz="1200" err="1"/>
              <a:t>których</a:t>
            </a:r>
            <a:r>
              <a:rPr lang="pl-PL" sz="1200"/>
              <a:t> istnienie spowodowane jest oddziaływaniem losowych </a:t>
            </a:r>
            <a:r>
              <a:rPr lang="pl-PL" sz="1200" err="1"/>
              <a:t>czynników</a:t>
            </a:r>
            <a:r>
              <a:rPr lang="pl-PL" sz="1200"/>
              <a:t> w obiekcie badań na </a:t>
            </a:r>
            <a:r>
              <a:rPr lang="pl-PL" sz="1200" err="1"/>
              <a:t>wielkości</a:t>
            </a:r>
            <a:r>
              <a:rPr lang="pl-PL" sz="1200"/>
              <a:t> </a:t>
            </a:r>
            <a:r>
              <a:rPr lang="pl-PL" sz="1200" err="1"/>
              <a:t>wyjściowe</a:t>
            </a:r>
            <a:r>
              <a:rPr lang="pl-PL" sz="1200"/>
              <a:t> oraz </a:t>
            </a:r>
            <a:r>
              <a:rPr lang="pl-PL" sz="1200" err="1"/>
              <a:t>niedoskonałościami</a:t>
            </a:r>
            <a:r>
              <a:rPr lang="pl-PL" sz="1200"/>
              <a:t> metod i </a:t>
            </a:r>
            <a:r>
              <a:rPr lang="pl-PL" sz="1200" err="1"/>
              <a:t>środków</a:t>
            </a:r>
            <a:r>
              <a:rPr lang="pl-PL" sz="1200"/>
              <a:t> pomiarowych.</a:t>
            </a:r>
          </a:p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691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Badania</a:t>
            </a:r>
            <a:r>
              <a:rPr lang="pl-PL" baseline="0"/>
              <a:t> kompletne:</a:t>
            </a:r>
          </a:p>
          <a:p>
            <a:pPr marL="171450" indent="-171450">
              <a:buFont typeface="Arial" charset="0"/>
              <a:buChar char="•"/>
            </a:pPr>
            <a:r>
              <a:rPr lang="pl-PL" baseline="0"/>
              <a:t>Eksplozja kombinatoryczna</a:t>
            </a:r>
          </a:p>
          <a:p>
            <a:pPr marL="0" indent="0">
              <a:buFont typeface="Arial" charset="0"/>
              <a:buNone/>
            </a:pPr>
            <a:r>
              <a:rPr lang="pl-PL" baseline="0"/>
              <a:t>Badania </a:t>
            </a:r>
            <a:r>
              <a:rPr lang="pl-PL" baseline="0" err="1"/>
              <a:t>monoselekcyjne</a:t>
            </a:r>
            <a:r>
              <a:rPr lang="pl-PL" baseline="0"/>
              <a:t>:</a:t>
            </a:r>
          </a:p>
          <a:p>
            <a:pPr marL="171450" indent="-171450">
              <a:buFont typeface="Arial" charset="0"/>
              <a:buChar char="•"/>
            </a:pPr>
            <a:r>
              <a:rPr lang="pl-PL" baseline="0"/>
              <a:t>zbyt wąsko</a:t>
            </a:r>
          </a:p>
          <a:p>
            <a:pPr marL="0" indent="0">
              <a:buFont typeface="Arial" charset="0"/>
              <a:buNone/>
            </a:pP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840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52" name="Picture 12" descr="pasek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425"/>
            <a:ext cx="16557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655763" y="1628775"/>
            <a:ext cx="7524750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73250" y="2130425"/>
            <a:ext cx="7089775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l-PL" altLang="pl-PL" noProof="0"/>
              <a:t>Kliknij, aby edytować styl wzorca tytułu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3250" y="5697538"/>
            <a:ext cx="7089775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pl-PL" altLang="pl-PL" noProof="0"/>
              <a:t>Kliknij, aby edytować styl wzorca podtytułu</a:t>
            </a:r>
          </a:p>
        </p:txBody>
      </p:sp>
      <p:pic>
        <p:nvPicPr>
          <p:cNvPr id="35856" name="Picture 16" descr="logo pl du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7742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002974988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46972944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899025" y="1881188"/>
            <a:ext cx="4137025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347771359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35722157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</p:spTree>
    <p:extLst>
      <p:ext uri="{BB962C8B-B14F-4D97-AF65-F5344CB8AC3E}">
        <p14:creationId xmlns:p14="http://schemas.microsoft.com/office/powerpoint/2010/main" val="1042752030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808690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305662605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283497189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64021408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931025" y="630238"/>
            <a:ext cx="2105025" cy="611187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611188" y="630238"/>
            <a:ext cx="6167437" cy="611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706589554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03238" y="481013"/>
            <a:ext cx="8640762" cy="1292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 flipH="1">
            <a:off x="0" y="1773238"/>
            <a:ext cx="503238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30238"/>
            <a:ext cx="842486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81188"/>
            <a:ext cx="8424862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pic>
        <p:nvPicPr>
          <p:cNvPr id="9234" name="Picture 18" descr="logo pl ma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2341563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Bar/>
  </p:transition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iff"/><Relationship Id="rId4" Type="http://schemas.openxmlformats.org/officeDocument/2006/relationships/image" Target="../media/image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73250" y="2130424"/>
            <a:ext cx="7089775" cy="3098775"/>
          </a:xfrm>
        </p:spPr>
        <p:txBody>
          <a:bodyPr/>
          <a:lstStyle/>
          <a:p>
            <a:r>
              <a:rPr lang="pl-PL" altLang="pl-PL"/>
              <a:t>Symulacja Komputerowa</a:t>
            </a:r>
            <a:br>
              <a:rPr lang="pl-PL" altLang="pl-PL"/>
            </a:br>
            <a:r>
              <a:rPr lang="pl-PL" altLang="pl-PL"/>
              <a:t>Wykład 7 i 8: </a:t>
            </a:r>
            <a:br>
              <a:rPr lang="pl-PL" altLang="pl-PL"/>
            </a:br>
            <a:r>
              <a:rPr lang="pl-PL" altLang="pl-PL" sz="3200"/>
              <a:t>- Metody Monte Carlo</a:t>
            </a:r>
            <a:br>
              <a:rPr lang="pl-PL" altLang="pl-PL" sz="3200"/>
            </a:br>
            <a:r>
              <a:rPr lang="pl-PL" altLang="pl-PL" sz="3200"/>
              <a:t>- Planowanie badań symulacyjnych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l-PL" altLang="pl-PL"/>
          </a:p>
          <a:p>
            <a:r>
              <a:rPr lang="pl-PL" altLang="pl-PL"/>
              <a:t>Dr inż. Dariusz Gąsior</a:t>
            </a:r>
          </a:p>
        </p:txBody>
      </p:sp>
    </p:spTree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Wymyślona przez Stanisława </a:t>
            </a:r>
            <a:r>
              <a:rPr lang="pl-PL" err="1"/>
              <a:t>Ulama</a:t>
            </a:r>
            <a:endParaRPr lang="pl-PL"/>
          </a:p>
          <a:p>
            <a:r>
              <a:rPr lang="pl-PL"/>
              <a:t>W zasadzie rodzina metod</a:t>
            </a:r>
          </a:p>
          <a:p>
            <a:r>
              <a:rPr lang="pl-PL"/>
              <a:t>Stosowana m.in. do numerycznego obliczania pól, w szczególności do numerycznego całkowania</a:t>
            </a:r>
          </a:p>
        </p:txBody>
      </p:sp>
    </p:spTree>
    <p:extLst>
      <p:ext uri="{BB962C8B-B14F-4D97-AF65-F5344CB8AC3E}">
        <p14:creationId xmlns:p14="http://schemas.microsoft.com/office/powerpoint/2010/main" val="241584237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 - przykłady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Obliczanie </a:t>
            </a:r>
            <a:r>
              <a:rPr lang="pl-PL">
                <a:latin typeface="Symbol" charset="2"/>
                <a:ea typeface="Symbol" charset="2"/>
                <a:cs typeface="Symbol" charset="2"/>
              </a:rPr>
              <a:t>p</a:t>
            </a:r>
            <a:endParaRPr lang="pl-PL"/>
          </a:p>
          <a:p>
            <a:endParaRPr lang="pl-PL"/>
          </a:p>
          <a:p>
            <a:endParaRPr lang="pl-PL"/>
          </a:p>
          <a:p>
            <a:r>
              <a:rPr lang="pl-PL"/>
              <a:t>Całkowanie numeryczne</a:t>
            </a:r>
          </a:p>
          <a:p>
            <a:endParaRPr lang="pl-PL"/>
          </a:p>
          <a:p>
            <a:endParaRPr lang="pl-PL"/>
          </a:p>
          <a:p>
            <a:r>
              <a:rPr lang="pl-PL"/>
              <a:t>Symulacja</a:t>
            </a:r>
          </a:p>
        </p:txBody>
      </p:sp>
    </p:spTree>
    <p:extLst>
      <p:ext uri="{BB962C8B-B14F-4D97-AF65-F5344CB8AC3E}">
        <p14:creationId xmlns:p14="http://schemas.microsoft.com/office/powerpoint/2010/main" val="1328931299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 – obliczanie </a:t>
            </a:r>
            <a:r>
              <a:rPr lang="pl-PL">
                <a:latin typeface="Symbol" charset="2"/>
                <a:ea typeface="Symbol" charset="2"/>
                <a:cs typeface="Symbol" charset="2"/>
              </a:rPr>
              <a:t>p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pl-PL"/>
              <a:t>Metoda akceptacji i odrzuceń</a:t>
            </a:r>
          </a:p>
          <a:p>
            <a:pPr>
              <a:buFont typeface="Arial" charset="0"/>
              <a:buChar char="•"/>
            </a:pPr>
            <a:endParaRPr lang="pl-PL"/>
          </a:p>
          <a:p>
            <a:pPr>
              <a:buFont typeface="Arial" charset="0"/>
              <a:buChar char="•"/>
            </a:pPr>
            <a:endParaRPr lang="pl-PL"/>
          </a:p>
          <a:p>
            <a:pPr>
              <a:buFont typeface="Arial" charset="0"/>
              <a:buChar char="•"/>
            </a:pPr>
            <a:endParaRPr lang="pl-PL"/>
          </a:p>
          <a:p>
            <a:pPr marL="514350" indent="-514350">
              <a:buAutoNum type="arabicPeriod"/>
            </a:pPr>
            <a:r>
              <a:rPr lang="pl-PL" sz="2400"/>
              <a:t>Losujemy N par liczb (</a:t>
            </a:r>
            <a:r>
              <a:rPr lang="pl-PL" sz="2400" err="1"/>
              <a:t>x,y</a:t>
            </a:r>
            <a:r>
              <a:rPr lang="pl-PL" sz="2400"/>
              <a:t>), gdzie x i y należą do przedziału [-r, r]</a:t>
            </a:r>
          </a:p>
          <a:p>
            <a:pPr marL="514350" indent="-514350">
              <a:buAutoNum type="arabicPeriod"/>
            </a:pPr>
            <a:r>
              <a:rPr lang="pl-PL" sz="2400"/>
              <a:t>Szacujemy </a:t>
            </a:r>
            <a:r>
              <a:rPr lang="pl-PL" sz="2400">
                <a:latin typeface="Symbol" charset="2"/>
                <a:ea typeface="Symbol" charset="2"/>
                <a:cs typeface="Symbol" charset="2"/>
              </a:rPr>
              <a:t>p</a:t>
            </a:r>
            <a:r>
              <a:rPr lang="pl-PL" sz="2400"/>
              <a:t> jako: </a:t>
            </a:r>
            <a:r>
              <a:rPr lang="pl-PL" sz="2400">
                <a:latin typeface="Symbol" charset="2"/>
                <a:ea typeface="Symbol" charset="2"/>
                <a:cs typeface="Symbol" charset="2"/>
              </a:rPr>
              <a:t>p  = 4 * </a:t>
            </a:r>
            <a:r>
              <a:rPr lang="pl-PL" sz="2400"/>
              <a:t>c / N,</a:t>
            </a:r>
            <a:br>
              <a:rPr lang="pl-PL" sz="2400"/>
            </a:br>
            <a:r>
              <a:rPr lang="pl-PL" sz="2400"/>
              <a:t>gdzie c oznacza liczbę wylosowanych</a:t>
            </a:r>
            <a:br>
              <a:rPr lang="pl-PL" sz="2400"/>
            </a:br>
            <a:r>
              <a:rPr lang="pl-PL" sz="2400"/>
              <a:t>par, które określają współrzędne</a:t>
            </a:r>
            <a:br>
              <a:rPr lang="pl-PL" sz="2400"/>
            </a:br>
            <a:r>
              <a:rPr lang="pl-PL" sz="2400"/>
              <a:t>leżące wewnątrz koła.</a:t>
            </a:r>
          </a:p>
          <a:p>
            <a:pPr marL="514350" indent="-514350">
              <a:buAutoNum type="arabicPeriod"/>
            </a:pPr>
            <a:endParaRPr lang="pl-PL"/>
          </a:p>
          <a:p>
            <a:pPr>
              <a:buFont typeface="Arial" charset="0"/>
              <a:buChar char="•"/>
            </a:pPr>
            <a:endParaRPr lang="pl-PL"/>
          </a:p>
          <a:p>
            <a:pPr>
              <a:buFont typeface="Arial" charset="0"/>
              <a:buChar char="•"/>
            </a:pPr>
            <a:endParaRPr lang="pl-PL"/>
          </a:p>
          <a:p>
            <a:pPr>
              <a:buFont typeface="Arial" charset="0"/>
              <a:buChar char="•"/>
            </a:pPr>
            <a:endParaRPr lang="pl-PL"/>
          </a:p>
          <a:p>
            <a:pPr>
              <a:buFont typeface="Arial" charset="0"/>
              <a:buChar char="•"/>
            </a:pPr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5240610"/>
            <a:ext cx="2196641" cy="1617390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932" y="2491285"/>
            <a:ext cx="2387600" cy="952500"/>
          </a:xfrm>
          <a:prstGeom prst="rect">
            <a:avLst/>
          </a:prstGeom>
        </p:spPr>
      </p:pic>
      <p:pic>
        <p:nvPicPr>
          <p:cNvPr id="10" name="Obraz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00" y="2528900"/>
            <a:ext cx="2307456" cy="160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53421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 – obliczanie całki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/>
              <a:t>Metoda I (akceptacji i odrzuceń)</a:t>
            </a:r>
          </a:p>
          <a:p>
            <a:endParaRPr lang="pl-PL" sz="2800"/>
          </a:p>
          <a:p>
            <a:pPr marL="0" indent="0">
              <a:buNone/>
            </a:pPr>
            <a:endParaRPr lang="pl-PL" sz="2800"/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c := 0, n := 0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Losuj punkt (</a:t>
            </a:r>
            <a:r>
              <a:rPr lang="pl-PL" sz="2400" err="1"/>
              <a:t>x,y</a:t>
            </a:r>
            <a:r>
              <a:rPr lang="pl-PL" sz="240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Jeśli 0 &lt; y =&lt; f(x) to c := c + 1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Jeśli f(x) =&lt; y &lt; 0 to c: = c – 1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n : = n + 1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Jeśli n &lt; </a:t>
            </a:r>
            <a:r>
              <a:rPr lang="pl-PL" sz="2400" err="1"/>
              <a:t>N</a:t>
            </a:r>
            <a:r>
              <a:rPr lang="pl-PL" sz="2400" baseline="-25000" err="1"/>
              <a:t>max</a:t>
            </a:r>
            <a:r>
              <a:rPr lang="pl-PL" sz="2400" baseline="-25000"/>
              <a:t> </a:t>
            </a:r>
            <a:r>
              <a:rPr lang="pl-PL" sz="2400"/>
              <a:t>to idź do 2, w przeciwnym razie idź do 7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/>
              <a:t>I = (</a:t>
            </a:r>
            <a:r>
              <a:rPr lang="pl-PL" sz="2400" err="1"/>
              <a:t>x</a:t>
            </a:r>
            <a:r>
              <a:rPr lang="pl-PL" sz="2400" baseline="-25000" err="1"/>
              <a:t>k</a:t>
            </a:r>
            <a:r>
              <a:rPr lang="pl-PL" sz="2400" baseline="-25000"/>
              <a:t> </a:t>
            </a:r>
            <a:r>
              <a:rPr lang="pl-PL" sz="2400"/>
              <a:t>- </a:t>
            </a:r>
            <a:r>
              <a:rPr lang="pl-PL" sz="2400" err="1"/>
              <a:t>x</a:t>
            </a:r>
            <a:r>
              <a:rPr lang="pl-PL" sz="2400" baseline="-25000" err="1"/>
              <a:t>p</a:t>
            </a:r>
            <a:r>
              <a:rPr lang="pl-PL" sz="2400"/>
              <a:t>) * (</a:t>
            </a:r>
            <a:r>
              <a:rPr lang="pl-PL" sz="2400" err="1"/>
              <a:t>y</a:t>
            </a:r>
            <a:r>
              <a:rPr lang="pl-PL" sz="2400" baseline="-25000" err="1"/>
              <a:t>k</a:t>
            </a:r>
            <a:r>
              <a:rPr lang="pl-PL" sz="2400" baseline="-25000"/>
              <a:t> </a:t>
            </a:r>
            <a:r>
              <a:rPr lang="pl-PL" sz="2400"/>
              <a:t>- </a:t>
            </a:r>
            <a:r>
              <a:rPr lang="pl-PL" sz="2400" err="1"/>
              <a:t>y</a:t>
            </a:r>
            <a:r>
              <a:rPr lang="pl-PL" sz="2400" baseline="-25000" err="1"/>
              <a:t>p</a:t>
            </a:r>
            <a:r>
              <a:rPr lang="pl-PL" sz="2400"/>
              <a:t>) * c / </a:t>
            </a:r>
            <a:r>
              <a:rPr lang="pl-PL" sz="2400" err="1"/>
              <a:t>N</a:t>
            </a:r>
            <a:r>
              <a:rPr lang="pl-PL" sz="2400" baseline="-25000" err="1"/>
              <a:t>max</a:t>
            </a:r>
            <a:endParaRPr lang="pl-PL" sz="2400"/>
          </a:p>
          <a:p>
            <a:endParaRPr lang="pl-PL" sz="2800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384884"/>
            <a:ext cx="3042679" cy="259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5416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 – obliczanie całki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/>
              <a:t>Metoda II (</a:t>
            </a:r>
            <a:r>
              <a:rPr lang="pl-PL" sz="2800" err="1"/>
              <a:t>Crude</a:t>
            </a:r>
            <a:r>
              <a:rPr lang="pl-PL" sz="2800"/>
              <a:t> Monte Carlo)</a:t>
            </a:r>
          </a:p>
          <a:p>
            <a:endParaRPr lang="pl-PL" sz="2800"/>
          </a:p>
          <a:p>
            <a:pPr marL="514350" indent="-514350">
              <a:buFont typeface="+mj-lt"/>
              <a:buAutoNum type="arabicPeriod"/>
            </a:pPr>
            <a:r>
              <a:rPr lang="pl-PL" sz="2800"/>
              <a:t>Wylosuj </a:t>
            </a:r>
            <a:r>
              <a:rPr lang="pl-PL" sz="2800" i="1"/>
              <a:t>N</a:t>
            </a:r>
            <a:r>
              <a:rPr lang="pl-PL" sz="2800"/>
              <a:t> liczb o rozkładzie równomiernym z przedziału [</a:t>
            </a:r>
            <a:r>
              <a:rPr lang="pl-PL" sz="2800" i="1" err="1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pl-PL" sz="2800" i="1" baseline="-25000" err="1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pl-PL" sz="2800">
                <a:latin typeface="Times New Roman" charset="0"/>
                <a:ea typeface="Times New Roman" charset="0"/>
                <a:cs typeface="Times New Roman" charset="0"/>
              </a:rPr>
              <a:t>, </a:t>
            </a:r>
            <a:r>
              <a:rPr lang="pl-PL" sz="2800" i="1" err="1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pl-PL" sz="2800" i="1" baseline="-25000" err="1"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lang="pl-PL" sz="2800"/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800"/>
              <a:t>Wartość całki oblicz ze wzoru:</a:t>
            </a:r>
          </a:p>
          <a:p>
            <a:endParaRPr lang="pl-PL" sz="2800"/>
          </a:p>
          <a:p>
            <a:pPr marL="0" indent="0">
              <a:buNone/>
            </a:pPr>
            <a:endParaRPr lang="pl-PL" sz="2800"/>
          </a:p>
          <a:p>
            <a:endParaRPr lang="pl-PL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rostokąt 3"/>
              <p:cNvSpPr/>
              <p:nvPr/>
            </p:nvSpPr>
            <p:spPr>
              <a:xfrm>
                <a:off x="2519772" y="4437112"/>
                <a:ext cx="4752528" cy="13038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i="1">
                          <a:latin typeface="Cambria Math" charset="0"/>
                        </a:rPr>
                        <m:t>𝐼</m:t>
                      </m:r>
                      <m:r>
                        <a:rPr lang="pl-PL" sz="2800" i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pl-P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l-PL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sz="2800" i="1">
                                      <a:latin typeface="Cambria Math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l-PL" sz="2800" i="0">
                                  <a:latin typeface="Cambria Math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l-PL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sz="2800" i="1">
                                      <a:latin typeface="Cambria Math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l-PL" sz="2800" i="1">
                              <a:latin typeface="Cambria Math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pl-PL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800" i="1">
                              <a:latin typeface="Cambria Math" charset="0"/>
                            </a:rPr>
                            <m:t>𝑖</m:t>
                          </m:r>
                          <m:r>
                            <a:rPr lang="pl-PL" sz="2800" i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pl-PL" sz="2800" i="1">
                              <a:latin typeface="Cambria Math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pl-PL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800" i="1">
                                  <a:latin typeface="Cambria Math" charset="0"/>
                                </a:rPr>
                                <m:t>𝑓</m:t>
                              </m:r>
                              <m:r>
                                <a:rPr lang="pl-PL" sz="2800" i="0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l-PL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sz="2800" i="1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800"/>
              </a:p>
            </p:txBody>
          </p:sp>
        </mc:Choice>
        <mc:Fallback>
          <p:sp>
            <p:nvSpPr>
              <p:cNvPr id="4" name="Prostoką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772" y="4437112"/>
                <a:ext cx="4752528" cy="1303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880870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 - symulacja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400"/>
              <a:t>Chcemy oszacować przyszłoroczny zysk ze sprzedaży, który można wyrazić wzorem:</a:t>
            </a:r>
            <a:br>
              <a:rPr lang="pl-PL" sz="2400"/>
            </a:br>
            <a:r>
              <a:rPr lang="pl-PL" sz="2400"/>
              <a:t>zysk = wielkość sprzedaży * (cena jednostkowa – koszt jednostkowy) – koszty stałe</a:t>
            </a:r>
          </a:p>
          <a:p>
            <a:endParaRPr lang="pl-PL" sz="2400"/>
          </a:p>
          <a:p>
            <a:r>
              <a:rPr lang="pl-PL" sz="2400"/>
              <a:t>Wiemy, że w przyszłym roku:</a:t>
            </a:r>
            <a:br>
              <a:rPr lang="pl-PL" sz="2400"/>
            </a:br>
            <a:r>
              <a:rPr lang="pl-PL" sz="2400"/>
              <a:t>Wielkość sprzedaży: od 1000 do 2000 sztuk. </a:t>
            </a:r>
            <a:br>
              <a:rPr lang="pl-PL" sz="2400"/>
            </a:br>
            <a:r>
              <a:rPr lang="pl-PL" sz="2400"/>
              <a:t>Cena jednostkowa: od 21 do 25 zł/szt. </a:t>
            </a:r>
            <a:br>
              <a:rPr lang="pl-PL" sz="2400"/>
            </a:br>
            <a:r>
              <a:rPr lang="pl-PL" sz="2400"/>
              <a:t>Koszt jednostkowy: od 15 do 19 zł/szt. </a:t>
            </a:r>
            <a:br>
              <a:rPr lang="pl-PL" sz="2400"/>
            </a:br>
            <a:r>
              <a:rPr lang="pl-PL" sz="2400"/>
              <a:t>Koszty stałe: 5000 zł</a:t>
            </a:r>
          </a:p>
          <a:p>
            <a:endParaRPr lang="pl-PL" sz="2400"/>
          </a:p>
          <a:p>
            <a:r>
              <a:rPr lang="pl-PL" sz="2400"/>
              <a:t>Jak teraz oszacować przyszłoroczny zysk?</a:t>
            </a:r>
          </a:p>
        </p:txBody>
      </p:sp>
    </p:spTree>
    <p:extLst>
      <p:ext uri="{BB962C8B-B14F-4D97-AF65-F5344CB8AC3E}">
        <p14:creationId xmlns:p14="http://schemas.microsoft.com/office/powerpoint/2010/main" val="2099916088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Metoda Monte Carlo – zalety i wady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/>
              <a:t>Zalety</a:t>
            </a:r>
          </a:p>
          <a:p>
            <a:pPr lvl="1"/>
            <a:r>
              <a:rPr lang="pl-PL" sz="2400"/>
              <a:t>prostota,</a:t>
            </a:r>
          </a:p>
          <a:p>
            <a:pPr lvl="1"/>
            <a:r>
              <a:rPr lang="pl-PL" sz="2400"/>
              <a:t>możliwość rozwiązywania złożonych problemów,</a:t>
            </a:r>
          </a:p>
          <a:p>
            <a:pPr lvl="1"/>
            <a:r>
              <a:rPr lang="pl-PL" sz="2400"/>
              <a:t>brak konieczności wykonywania skomplikowanych wyliczeń analitycznych,</a:t>
            </a:r>
          </a:p>
          <a:p>
            <a:r>
              <a:rPr lang="pl-PL" sz="2800"/>
              <a:t>Wady:</a:t>
            </a:r>
          </a:p>
          <a:p>
            <a:pPr lvl="1"/>
            <a:r>
              <a:rPr lang="pl-PL" sz="2400"/>
              <a:t>Eksperymenty dla skończonej próby</a:t>
            </a:r>
          </a:p>
          <a:p>
            <a:pPr lvl="1"/>
            <a:r>
              <a:rPr lang="pl-PL" sz="2400"/>
              <a:t>Wyniki są przybliżeniem</a:t>
            </a:r>
          </a:p>
          <a:p>
            <a:pPr lvl="1"/>
            <a:r>
              <a:rPr lang="pl-PL" sz="2400"/>
              <a:t>Wyniki zależą od jakości generatora liczb pseudolosowych</a:t>
            </a:r>
          </a:p>
        </p:txBody>
      </p:sp>
    </p:spTree>
    <p:extLst>
      <p:ext uri="{BB962C8B-B14F-4D97-AF65-F5344CB8AC3E}">
        <p14:creationId xmlns:p14="http://schemas.microsoft.com/office/powerpoint/2010/main" val="712535276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Planowanie badań symulacyjnych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130029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/>
              <a:t>Charakterystyka obiektu badań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1800" err="1"/>
              <a:t>niezależne</a:t>
            </a:r>
            <a:r>
              <a:rPr lang="pl-PL" sz="1800"/>
              <a:t> </a:t>
            </a:r>
            <a:r>
              <a:rPr lang="pl-PL" sz="1800" err="1"/>
              <a:t>wielkości</a:t>
            </a:r>
            <a:r>
              <a:rPr lang="pl-PL" sz="1800"/>
              <a:t> </a:t>
            </a:r>
            <a:r>
              <a:rPr lang="pl-PL" sz="1800" err="1"/>
              <a:t>wejściowe</a:t>
            </a:r>
            <a:r>
              <a:rPr lang="pl-PL" sz="1800"/>
              <a:t>: X = [</a:t>
            </a:r>
            <a:r>
              <a:rPr lang="pl-PL" sz="1800" err="1"/>
              <a:t>x</a:t>
            </a:r>
            <a:r>
              <a:rPr lang="pl-PL" sz="1800" baseline="-25000" err="1"/>
              <a:t>k</a:t>
            </a:r>
            <a:r>
              <a:rPr lang="pl-PL" sz="1800"/>
              <a:t>], k = 1,2,...,s,</a:t>
            </a:r>
          </a:p>
          <a:p>
            <a:r>
              <a:rPr lang="pl-PL" sz="1800" err="1"/>
              <a:t>zależne</a:t>
            </a:r>
            <a:r>
              <a:rPr lang="pl-PL" sz="1800"/>
              <a:t> </a:t>
            </a:r>
            <a:r>
              <a:rPr lang="pl-PL" sz="1800" err="1"/>
              <a:t>wielkości</a:t>
            </a:r>
            <a:r>
              <a:rPr lang="pl-PL" sz="1800"/>
              <a:t> </a:t>
            </a:r>
            <a:r>
              <a:rPr lang="pl-PL" sz="1800" err="1"/>
              <a:t>wyjściowe</a:t>
            </a:r>
            <a:r>
              <a:rPr lang="pl-PL" sz="1800"/>
              <a:t>: Y = [</a:t>
            </a:r>
            <a:r>
              <a:rPr lang="pl-PL" sz="1800" err="1"/>
              <a:t>y</a:t>
            </a:r>
            <a:r>
              <a:rPr lang="pl-PL" sz="1800" baseline="-25000" err="1"/>
              <a:t>p</a:t>
            </a:r>
            <a:r>
              <a:rPr lang="pl-PL" sz="1800"/>
              <a:t>], p = 1,2,...,w,</a:t>
            </a:r>
          </a:p>
          <a:p>
            <a:r>
              <a:rPr lang="pl-PL" sz="1800"/>
              <a:t>wielkości stałe C = [c</a:t>
            </a:r>
            <a:r>
              <a:rPr lang="pl-PL" sz="1800" baseline="-25000"/>
              <a:t>i</a:t>
            </a:r>
            <a:r>
              <a:rPr lang="pl-PL" sz="1800"/>
              <a:t>], </a:t>
            </a:r>
          </a:p>
          <a:p>
            <a:r>
              <a:rPr lang="pl-PL" sz="1800"/>
              <a:t>wielkości </a:t>
            </a:r>
            <a:r>
              <a:rPr lang="pl-PL" sz="1800" err="1"/>
              <a:t>zakłócające</a:t>
            </a:r>
            <a:r>
              <a:rPr lang="pl-PL" sz="1800"/>
              <a:t> Z = [</a:t>
            </a:r>
            <a:r>
              <a:rPr lang="pl-PL" sz="1800" err="1"/>
              <a:t>z</a:t>
            </a:r>
            <a:r>
              <a:rPr lang="pl-PL" sz="1800" baseline="-25000" err="1"/>
              <a:t>j</a:t>
            </a:r>
            <a:r>
              <a:rPr lang="pl-PL" sz="1800"/>
              <a:t>],</a:t>
            </a:r>
          </a:p>
        </p:txBody>
      </p:sp>
      <p:sp>
        <p:nvSpPr>
          <p:cNvPr id="4" name="Prostokąt 3"/>
          <p:cNvSpPr/>
          <p:nvPr/>
        </p:nvSpPr>
        <p:spPr>
          <a:xfrm>
            <a:off x="3023828" y="4473116"/>
            <a:ext cx="2628292" cy="1224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/>
              <a:t>OBIEKT</a:t>
            </a:r>
          </a:p>
          <a:p>
            <a:pPr algn="ctr"/>
            <a:r>
              <a:rPr lang="pl-PL"/>
              <a:t>(C)</a:t>
            </a:r>
          </a:p>
        </p:txBody>
      </p:sp>
      <p:cxnSp>
        <p:nvCxnSpPr>
          <p:cNvPr id="8" name="Łącznik prosty ze strzałką 7"/>
          <p:cNvCxnSpPr/>
          <p:nvPr/>
        </p:nvCxnSpPr>
        <p:spPr>
          <a:xfrm>
            <a:off x="3707904" y="3789040"/>
            <a:ext cx="18002" cy="684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/>
          <p:cNvCxnSpPr/>
          <p:nvPr/>
        </p:nvCxnSpPr>
        <p:spPr>
          <a:xfrm>
            <a:off x="1567402" y="47436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/>
          <p:cNvCxnSpPr/>
          <p:nvPr/>
        </p:nvCxnSpPr>
        <p:spPr>
          <a:xfrm>
            <a:off x="1567402" y="49595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/>
          <p:cNvCxnSpPr/>
          <p:nvPr/>
        </p:nvCxnSpPr>
        <p:spPr>
          <a:xfrm>
            <a:off x="1567402" y="5420010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/>
          <p:cNvCxnSpPr/>
          <p:nvPr/>
        </p:nvCxnSpPr>
        <p:spPr>
          <a:xfrm>
            <a:off x="3959932" y="3799768"/>
            <a:ext cx="18002" cy="684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/>
          <p:cNvCxnSpPr/>
          <p:nvPr/>
        </p:nvCxnSpPr>
        <p:spPr>
          <a:xfrm>
            <a:off x="5634118" y="47436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/>
          <p:cNvCxnSpPr/>
          <p:nvPr/>
        </p:nvCxnSpPr>
        <p:spPr>
          <a:xfrm>
            <a:off x="5634118" y="49595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ze strzałką 16"/>
          <p:cNvCxnSpPr/>
          <p:nvPr/>
        </p:nvCxnSpPr>
        <p:spPr>
          <a:xfrm>
            <a:off x="5634118" y="5420010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ze strzałką 17"/>
          <p:cNvCxnSpPr/>
          <p:nvPr/>
        </p:nvCxnSpPr>
        <p:spPr>
          <a:xfrm>
            <a:off x="5004048" y="3789040"/>
            <a:ext cx="18002" cy="684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oleTekstowe 18"/>
          <p:cNvSpPr txBox="1"/>
          <p:nvPr/>
        </p:nvSpPr>
        <p:spPr>
          <a:xfrm>
            <a:off x="2225441" y="4969160"/>
            <a:ext cx="21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 b="1"/>
              <a:t>.</a:t>
            </a:r>
          </a:p>
          <a:p>
            <a:r>
              <a:rPr lang="pl-PL" sz="800" b="1"/>
              <a:t>.</a:t>
            </a:r>
          </a:p>
          <a:p>
            <a:r>
              <a:rPr lang="pl-PL" sz="800" b="1"/>
              <a:t>.</a:t>
            </a:r>
          </a:p>
        </p:txBody>
      </p:sp>
      <p:sp>
        <p:nvSpPr>
          <p:cNvPr id="20" name="PoleTekstowe 19"/>
          <p:cNvSpPr txBox="1"/>
          <p:nvPr/>
        </p:nvSpPr>
        <p:spPr>
          <a:xfrm>
            <a:off x="6148811" y="4958345"/>
            <a:ext cx="21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 b="1"/>
              <a:t>.</a:t>
            </a:r>
          </a:p>
          <a:p>
            <a:r>
              <a:rPr lang="pl-PL" sz="800" b="1"/>
              <a:t>.</a:t>
            </a:r>
          </a:p>
          <a:p>
            <a:r>
              <a:rPr lang="pl-PL" sz="800" b="1"/>
              <a:t>.</a:t>
            </a:r>
          </a:p>
        </p:txBody>
      </p:sp>
      <p:sp>
        <p:nvSpPr>
          <p:cNvPr id="21" name="PoleTekstowe 20"/>
          <p:cNvSpPr txBox="1"/>
          <p:nvPr/>
        </p:nvSpPr>
        <p:spPr>
          <a:xfrm>
            <a:off x="4337974" y="395557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/>
              <a:t>…</a:t>
            </a:r>
            <a:endParaRPr lang="pl-PL"/>
          </a:p>
        </p:txBody>
      </p:sp>
      <p:sp>
        <p:nvSpPr>
          <p:cNvPr id="22" name="PoleTekstowe 21"/>
          <p:cNvSpPr txBox="1"/>
          <p:nvPr/>
        </p:nvSpPr>
        <p:spPr>
          <a:xfrm>
            <a:off x="1151620" y="496916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X</a:t>
            </a:r>
          </a:p>
        </p:txBody>
      </p:sp>
      <p:sp>
        <p:nvSpPr>
          <p:cNvPr id="23" name="PoleTekstowe 22"/>
          <p:cNvSpPr txBox="1"/>
          <p:nvPr/>
        </p:nvSpPr>
        <p:spPr>
          <a:xfrm flipH="1">
            <a:off x="4311818" y="3622702"/>
            <a:ext cx="50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</a:t>
            </a:r>
          </a:p>
        </p:txBody>
      </p:sp>
      <p:sp>
        <p:nvSpPr>
          <p:cNvPr id="24" name="PoleTekstowe 23"/>
          <p:cNvSpPr txBox="1"/>
          <p:nvPr/>
        </p:nvSpPr>
        <p:spPr>
          <a:xfrm>
            <a:off x="7344308" y="4900518"/>
            <a:ext cx="66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429257462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Planowanie badań symulacyjnych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/>
              <a:t>Badania kompletne</a:t>
            </a:r>
          </a:p>
          <a:p>
            <a:pPr lvl="1"/>
            <a:r>
              <a:rPr lang="pl-PL" sz="2400"/>
              <a:t>dla każdej zmiennej </a:t>
            </a:r>
            <a:r>
              <a:rPr lang="pl-PL" sz="2400" i="1" err="1"/>
              <a:t>x</a:t>
            </a:r>
            <a:r>
              <a:rPr lang="pl-PL" sz="2400" i="1" baseline="-25000" err="1"/>
              <a:t>k</a:t>
            </a:r>
            <a:r>
              <a:rPr lang="pl-PL" sz="2400"/>
              <a:t> (należącej do zbioru [</a:t>
            </a:r>
            <a:r>
              <a:rPr lang="pl-PL" sz="2400" err="1"/>
              <a:t>x</a:t>
            </a:r>
            <a:r>
              <a:rPr lang="pl-PL" sz="2400" baseline="-25000" err="1"/>
              <a:t>k,min</a:t>
            </a:r>
            <a:r>
              <a:rPr lang="pl-PL" sz="2400"/>
              <a:t>, </a:t>
            </a:r>
            <a:r>
              <a:rPr lang="pl-PL" sz="2400" err="1"/>
              <a:t>x</a:t>
            </a:r>
            <a:r>
              <a:rPr lang="pl-PL" sz="2400" baseline="-25000" err="1"/>
              <a:t>k,max</a:t>
            </a:r>
            <a:r>
              <a:rPr lang="pl-PL" sz="2400"/>
              <a:t>] wybieramy L równooddalonych wartości w jej dziedzinie</a:t>
            </a:r>
          </a:p>
          <a:p>
            <a:pPr lvl="1"/>
            <a:r>
              <a:rPr lang="pl-PL" sz="2400"/>
              <a:t>uruchamiamy symulacje dla wszystkich kombinacji x </a:t>
            </a:r>
          </a:p>
          <a:p>
            <a:r>
              <a:rPr lang="pl-PL" sz="2800"/>
              <a:t>Badania </a:t>
            </a:r>
            <a:r>
              <a:rPr lang="pl-PL" sz="2800" err="1"/>
              <a:t>monoselekcyjne</a:t>
            </a:r>
            <a:r>
              <a:rPr lang="pl-PL" sz="2800"/>
              <a:t>:</a:t>
            </a:r>
          </a:p>
          <a:p>
            <a:pPr lvl="1"/>
            <a:r>
              <a:rPr lang="pl-PL" sz="2400"/>
              <a:t>dla każdej zmiennej </a:t>
            </a:r>
            <a:r>
              <a:rPr lang="pl-PL" sz="2400" err="1"/>
              <a:t>x</a:t>
            </a:r>
            <a:r>
              <a:rPr lang="pl-PL" sz="2400" baseline="-25000" err="1"/>
              <a:t>k</a:t>
            </a:r>
            <a:r>
              <a:rPr lang="pl-PL" sz="2400"/>
              <a:t> uruchamiamy symulacje dla L różnych wartości z dziedziny, przy wartościach pozostałych zmiennych ustawionych arbitralnie</a:t>
            </a:r>
            <a:endParaRPr lang="pl-PL" sz="2800"/>
          </a:p>
          <a:p>
            <a:r>
              <a:rPr lang="pl-PL" sz="2800"/>
              <a:t>Plan eksperymentu (ciąg układów eksperymentu)</a:t>
            </a:r>
          </a:p>
          <a:p>
            <a:pPr marL="0" indent="0">
              <a:buNone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3440172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Przygotowanie planu eksperymentu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2800"/>
              <a:t>Normowanie wielkości wejściowych</a:t>
            </a:r>
            <a:br>
              <a:rPr lang="pl-PL" sz="2800"/>
            </a:br>
            <a:br>
              <a:rPr lang="pl-PL" sz="2800"/>
            </a:br>
            <a:br>
              <a:rPr lang="pl-PL" sz="2800"/>
            </a:br>
            <a:br>
              <a:rPr lang="pl-PL" sz="2800"/>
            </a:br>
            <a:r>
              <a:rPr lang="pl-PL" sz="2800"/>
              <a:t>(tj. do przedziału: [-</a:t>
            </a:r>
            <a:r>
              <a:rPr lang="pl-PL" sz="2800">
                <a:latin typeface="Symbol" charset="2"/>
                <a:ea typeface="Symbol" charset="2"/>
                <a:cs typeface="Symbol" charset="2"/>
              </a:rPr>
              <a:t> a, a</a:t>
            </a:r>
            <a:r>
              <a:rPr lang="pl-PL" sz="2800"/>
              <a:t>] w szczególności </a:t>
            </a:r>
            <a:r>
              <a:rPr lang="pl-PL" sz="2800">
                <a:latin typeface="Symbol" charset="2"/>
                <a:ea typeface="Symbol" charset="2"/>
                <a:cs typeface="Symbol" charset="2"/>
              </a:rPr>
              <a:t>a</a:t>
            </a:r>
            <a:r>
              <a:rPr lang="pl-PL" sz="2800"/>
              <a:t>=1)</a:t>
            </a:r>
            <a:br>
              <a:rPr lang="pl-PL" sz="2800"/>
            </a:br>
            <a:r>
              <a:rPr lang="pl-PL" sz="2800"/>
              <a:t>Można przeprowadzić denormalizację:</a:t>
            </a:r>
          </a:p>
          <a:p>
            <a:pPr marL="514350" indent="-514350">
              <a:buFont typeface="+mj-lt"/>
              <a:buAutoNum type="arabicPeriod"/>
            </a:pPr>
            <a:endParaRPr lang="pl-PL" sz="2800"/>
          </a:p>
          <a:p>
            <a:pPr marL="514350" indent="-514350">
              <a:buFont typeface="+mj-lt"/>
              <a:buAutoNum type="arabicPeriod"/>
            </a:pPr>
            <a:endParaRPr lang="pl-PL" sz="2800"/>
          </a:p>
          <a:p>
            <a:pPr marL="514350" indent="-514350">
              <a:buFont typeface="+mj-lt"/>
              <a:buAutoNum type="arabicPeriod"/>
            </a:pPr>
            <a:r>
              <a:rPr lang="pl-PL" sz="2800"/>
              <a:t>Jeśli mamy wiele wyjść to i tak możemy rozważać każde niezależnie (dekompozycja)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772" y="2528900"/>
            <a:ext cx="3060340" cy="1025454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4811683"/>
            <a:ext cx="3327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23407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 eksperymentu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Plan eksperymentu składa się z układów eksperymentu i tworzy macierz: 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100" y="3074392"/>
            <a:ext cx="34798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90184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Planowanie dwupoziomowe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/>
              <a:t>Plany całkowite:</a:t>
            </a:r>
          </a:p>
          <a:p>
            <a:pPr lvl="1"/>
            <a:r>
              <a:rPr lang="pl-PL" sz="2400"/>
              <a:t>dla każdej zmiennej wejściowej przeprowadza się symulacje dla obu wartości skrajnych z przedziału (tworzy się n = 2</a:t>
            </a:r>
            <a:r>
              <a:rPr lang="pl-PL" sz="2400" baseline="30000"/>
              <a:t>s</a:t>
            </a:r>
            <a:r>
              <a:rPr lang="pl-PL" sz="2400"/>
              <a:t> układów eksperymentu)</a:t>
            </a:r>
            <a:endParaRPr lang="pl-PL" sz="2800"/>
          </a:p>
          <a:p>
            <a:pPr marL="0" indent="0">
              <a:buNone/>
            </a:pPr>
            <a:r>
              <a:rPr lang="pl-PL" sz="2400" i="1"/>
              <a:t>Nie zawsze jest możliwe przeprowadzenie 2</a:t>
            </a:r>
            <a:r>
              <a:rPr lang="pl-PL" sz="2400" i="1" baseline="30000"/>
              <a:t>s </a:t>
            </a:r>
            <a:r>
              <a:rPr lang="pl-PL" sz="2400" i="1"/>
              <a:t>eksperymentów, zatem trzeba wybrać tylko cześć układów.</a:t>
            </a:r>
          </a:p>
          <a:p>
            <a:pPr>
              <a:buFont typeface="Arial" charset="0"/>
              <a:buChar char="•"/>
            </a:pPr>
            <a:r>
              <a:rPr lang="pl-PL" sz="2800"/>
              <a:t>Plany ułamkowe:</a:t>
            </a:r>
          </a:p>
          <a:p>
            <a:pPr lvl="1">
              <a:buFontTx/>
              <a:buChar char="-"/>
            </a:pPr>
            <a:r>
              <a:rPr lang="pl-PL" sz="2000"/>
              <a:t>połówkowe, ćwiartkowe, ósemkowe</a:t>
            </a:r>
          </a:p>
          <a:p>
            <a:pPr lvl="1">
              <a:buFontTx/>
              <a:buChar char="-"/>
            </a:pPr>
            <a:r>
              <a:rPr lang="pl-PL" sz="2000"/>
              <a:t>Powinny spełniać następujące założenia (względem zmiennych unormowanych):</a:t>
            </a:r>
          </a:p>
          <a:p>
            <a:pPr lvl="2">
              <a:buFontTx/>
              <a:buChar char="-"/>
            </a:pPr>
            <a:r>
              <a:rPr lang="pl-PL" sz="1600"/>
              <a:t>symetrii,</a:t>
            </a:r>
          </a:p>
          <a:p>
            <a:pPr lvl="2">
              <a:buFontTx/>
              <a:buChar char="-"/>
            </a:pPr>
            <a:r>
              <a:rPr lang="pl-PL" sz="1600"/>
              <a:t>ortogonalności (iloczyny skalarne 2-óch różnych kolumn X muszą się zerować)</a:t>
            </a:r>
          </a:p>
          <a:p>
            <a:pPr lvl="2">
              <a:buFontTx/>
              <a:buChar char="-"/>
            </a:pPr>
            <a:r>
              <a:rPr lang="pl-PL" sz="1600"/>
              <a:t>równość sum kwadratów we wszystkich kolumnach X</a:t>
            </a:r>
          </a:p>
          <a:p>
            <a:pPr lvl="2">
              <a:buFontTx/>
              <a:buChar char="-"/>
            </a:pPr>
            <a:endParaRPr lang="pl-PL" sz="1600"/>
          </a:p>
          <a:p>
            <a:pPr lvl="1"/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1851603317"/>
      </p:ext>
    </p:extLst>
  </p:cSld>
  <p:clrMapOvr>
    <a:masterClrMapping/>
  </p:clrMapOvr>
  <p:transition>
    <p:randomBa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Planowanie trójpoziomowe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pl-PL" sz="2400"/>
              <a:t>Podobnie jak dla planowania dwupoziomowego, ale przyjmuje się również wartość środkową, tj. dla unormowanych wielkości wejściowych: </a:t>
            </a:r>
          </a:p>
          <a:p>
            <a:pPr marL="114300" indent="0">
              <a:buNone/>
            </a:pPr>
            <a:endParaRPr lang="pl-PL" sz="2400"/>
          </a:p>
          <a:p>
            <a:pPr marL="114300" indent="0">
              <a:buNone/>
            </a:pPr>
            <a:endParaRPr lang="pl-PL" sz="2400"/>
          </a:p>
          <a:p>
            <a:pPr marL="114300" indent="0">
              <a:buNone/>
            </a:pPr>
            <a:endParaRPr lang="pl-PL" sz="2400"/>
          </a:p>
          <a:p>
            <a:pPr marL="114300" indent="0">
              <a:buNone/>
            </a:pPr>
            <a:endParaRPr lang="pl-PL" sz="2400"/>
          </a:p>
          <a:p>
            <a:pPr marL="114300" indent="0">
              <a:buNone/>
            </a:pPr>
            <a:r>
              <a:rPr lang="pl-PL" sz="2400"/>
              <a:t>Ale jeszcze bardziej rośnie wielkość planu n = 3</a:t>
            </a:r>
            <a:r>
              <a:rPr lang="pl-PL" sz="2400" baseline="30000"/>
              <a:t>s </a:t>
            </a:r>
            <a:r>
              <a:rPr lang="pl-PL" sz="2400"/>
              <a:t>!</a:t>
            </a:r>
          </a:p>
          <a:p>
            <a:pPr lvl="1"/>
            <a:endParaRPr lang="pl-PL" sz="240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884" y="3537074"/>
            <a:ext cx="2142961" cy="39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27561"/>
      </p:ext>
    </p:extLst>
  </p:cSld>
  <p:clrMapOvr>
    <a:masterClrMapping/>
  </p:clrMapOvr>
  <p:transition>
    <p:randomBa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Planowanie wielopoziomowe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457200"/>
            <a:r>
              <a:rPr lang="pl-PL" sz="2800"/>
              <a:t>Kompozycyjne</a:t>
            </a:r>
          </a:p>
          <a:p>
            <a:pPr marL="914400" lvl="1" indent="-457200"/>
            <a:r>
              <a:rPr lang="pl-PL" sz="2400"/>
              <a:t>Planowanie dwupoziomowe rozszerzone o przypadki, gdy tylko jedna wartość unormowanej wielkości wejściowej wynosi +</a:t>
            </a:r>
            <a:r>
              <a:rPr lang="pl-PL" sz="2400">
                <a:latin typeface="Symbol" charset="2"/>
                <a:ea typeface="Symbol" charset="2"/>
                <a:cs typeface="Symbol" charset="2"/>
              </a:rPr>
              <a:t>a</a:t>
            </a:r>
            <a:r>
              <a:rPr lang="pl-PL" sz="2400"/>
              <a:t> lub –</a:t>
            </a:r>
            <a:r>
              <a:rPr lang="pl-PL" sz="2400">
                <a:latin typeface="Symbol" charset="2"/>
                <a:ea typeface="Symbol" charset="2"/>
                <a:cs typeface="Symbol" charset="2"/>
              </a:rPr>
              <a:t>a </a:t>
            </a:r>
            <a:r>
              <a:rPr lang="pl-PL" sz="2400">
                <a:latin typeface="Trebuchet MS" charset="0"/>
                <a:ea typeface="Trebuchet MS" charset="0"/>
                <a:cs typeface="Trebuchet MS" charset="0"/>
              </a:rPr>
              <a:t>(ramiona gwiazdy), a pozostałe 0 oraz punkt z samymi 0 (centrum eksperymentu).</a:t>
            </a:r>
            <a:endParaRPr lang="pl-PL" sz="2800"/>
          </a:p>
          <a:p>
            <a:pPr marL="514350" indent="-457200"/>
            <a:r>
              <a:rPr lang="pl-PL" sz="2800"/>
              <a:t>Ortogonalne</a:t>
            </a:r>
          </a:p>
          <a:p>
            <a:pPr marL="914400" lvl="1" indent="-457200"/>
            <a:r>
              <a:rPr lang="pl-PL" sz="2400"/>
              <a:t>Plan spełniający postulat ortogonalności.</a:t>
            </a:r>
            <a:endParaRPr lang="pl-PL" sz="2800"/>
          </a:p>
          <a:p>
            <a:pPr marL="514350" indent="-457200"/>
            <a:r>
              <a:rPr lang="pl-PL" sz="2800" err="1"/>
              <a:t>Rotabilne</a:t>
            </a:r>
            <a:endParaRPr lang="pl-PL" sz="2800"/>
          </a:p>
          <a:p>
            <a:pPr marL="457200" lvl="1" indent="0">
              <a:buNone/>
            </a:pPr>
            <a:endParaRPr lang="pl-PL" sz="2400"/>
          </a:p>
          <a:p>
            <a:pPr marL="514350" indent="-457200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2029386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1_Projekt domyślny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yklad1" id="{551E832A-925F-ED41-939C-D4BE2247C2B8}" vid="{39290E1C-1DF4-F940-ACC4-CD4362D23FD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A2E251144B404EA9E598855E9A21C4" ma:contentTypeVersion="3" ma:contentTypeDescription="Create a new document." ma:contentTypeScope="" ma:versionID="20ec12cadefbb9e34b75aa3b0873a730">
  <xsd:schema xmlns:xsd="http://www.w3.org/2001/XMLSchema" xmlns:xs="http://www.w3.org/2001/XMLSchema" xmlns:p="http://schemas.microsoft.com/office/2006/metadata/properties" xmlns:ns2="e4e4be2c-45ae-4625-bc62-f1f615e37b29" targetNamespace="http://schemas.microsoft.com/office/2006/metadata/properties" ma:root="true" ma:fieldsID="a2cb082af39dbafedbc0e792953a71dc" ns2:_="">
    <xsd:import namespace="e4e4be2c-45ae-4625-bc62-f1f615e37b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4be2c-45ae-4625-bc62-f1f615e37b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8EBCA9-E46D-4CCB-AF6C-424956757658}"/>
</file>

<file path=customXml/itemProps2.xml><?xml version="1.0" encoding="utf-8"?>
<ds:datastoreItem xmlns:ds="http://schemas.openxmlformats.org/officeDocument/2006/customXml" ds:itemID="{8C88B588-5CAF-4002-AA3C-D07E8E5A14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EE338-6392-4818-9B33-DB67DE2460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16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1_Projekt domyślny</vt:lpstr>
      <vt:lpstr>Symulacja Komputerowa Wykład 7 i 8:  - Metody Monte Carlo - Planowanie badań symulacyjnych</vt:lpstr>
      <vt:lpstr>Metoda Monte Carlo</vt:lpstr>
      <vt:lpstr>Metoda Monte Carlo - przykłady</vt:lpstr>
      <vt:lpstr>Metoda Monte Carlo – obliczanie p</vt:lpstr>
      <vt:lpstr>Metoda Monte Carlo – obliczanie całki</vt:lpstr>
      <vt:lpstr>Metoda Monte Carlo – obliczanie całki</vt:lpstr>
      <vt:lpstr>Metoda Monte Carlo - symulacja</vt:lpstr>
      <vt:lpstr>Metoda Monte Carlo – zalety i wady</vt:lpstr>
      <vt:lpstr>Planowanie badań symulacyjnych</vt:lpstr>
      <vt:lpstr>Charakterystyka obiektu badań</vt:lpstr>
      <vt:lpstr>Planowanie badań symulacyjnych</vt:lpstr>
      <vt:lpstr>Przygotowanie planu eksperymentu</vt:lpstr>
      <vt:lpstr>Plan eksperymentu</vt:lpstr>
      <vt:lpstr>Planowanie dwupoziomowe</vt:lpstr>
      <vt:lpstr>Planowanie trójpoziomowe</vt:lpstr>
      <vt:lpstr>Planowanie wielopoziomowe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Symulacja Komputerowa Wykład 1</dc:title>
  <dc:creator>Dariusz Gasior</dc:creator>
  <cp:revision>1</cp:revision>
  <dcterms:created xsi:type="dcterms:W3CDTF">2015-10-06T14:07:00Z</dcterms:created>
  <dcterms:modified xsi:type="dcterms:W3CDTF">2025-12-11T19:22:57Z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0x0101003AA2E251144B404EA9E598855E9A21C4</vt:lpwstr>
  </property>
</Properties>
</file>