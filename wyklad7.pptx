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diagrams/data1.xml" ContentType="application/vnd.openxmlformats-officedocument.drawingml.diagramData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diagrams/drawing1.xml" ContentType="application/vnd.ms-office.drawingml.diagramDrawing+xml"/>
  <Override PartName="/ppt/diagrams/colors1.xml" ContentType="application/vnd.openxmlformats-officedocument.drawingml.diagramColors+xml"/>
  <Override PartName="/ppt/diagrams/quickStyle1.xml" ContentType="application/vnd.openxmlformats-officedocument.drawingml.diagramStyle+xml"/>
  <Override PartName="/ppt/diagrams/layout1.xml" ContentType="application/vnd.openxmlformats-officedocument.drawingml.diagramLayout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</p:sldMasterIdLst>
  <p:notesMasterIdLst>
    <p:notesMasterId r:id="rId14"/>
  </p:notesMasterIdLst>
  <p:sldIdLst>
    <p:sldId id="256" r:id="rId2"/>
    <p:sldId id="282" r:id="rId3"/>
    <p:sldId id="283" r:id="rId4"/>
    <p:sldId id="279" r:id="rId5"/>
    <p:sldId id="280" r:id="rId6"/>
    <p:sldId id="287" r:id="rId7"/>
    <p:sldId id="281" r:id="rId8"/>
    <p:sldId id="286" r:id="rId9"/>
    <p:sldId id="288" r:id="rId10"/>
    <p:sldId id="285" r:id="rId11"/>
    <p:sldId id="284" r:id="rId12"/>
    <p:sldId id="278" r:id="rId13"/>
  </p:sldIdLst>
  <p:sldSz cx="9144000" cy="6858000" type="screen4x3"/>
  <p:notesSz cx="6562725" cy="8686800"/>
  <p:defaultTextStyle>
    <a:defPPr>
      <a:defRPr lang="pl-P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3A1"/>
    <a:srgbClr val="A719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266"/>
    <p:restoredTop sz="50000"/>
  </p:normalViewPr>
  <p:slideViewPr>
    <p:cSldViewPr snapToObjects="1">
      <p:cViewPr varScale="1">
        <p:scale>
          <a:sx n="59" d="100"/>
          <a:sy n="59" d="100"/>
        </p:scale>
        <p:origin x="30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F52D38-722D-404D-8D17-C215C6DB8097}" type="doc">
      <dgm:prSet loTypeId="urn:microsoft.com/office/officeart/2005/8/layout/cycle5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pl-PL"/>
        </a:p>
      </dgm:t>
    </dgm:pt>
    <dgm:pt modelId="{9A97ED8F-66E8-674B-8723-1B466C57F465}">
      <dgm:prSet phldrT="[Tekst]"/>
      <dgm:spPr/>
      <dgm:t>
        <a:bodyPr/>
        <a:lstStyle/>
        <a:p>
          <a:r>
            <a:rPr lang="pl-PL" dirty="0"/>
            <a:t>Obiekt rzeczywisty</a:t>
          </a:r>
        </a:p>
      </dgm:t>
    </dgm:pt>
    <dgm:pt modelId="{445784C2-C35D-8B43-9846-807370766929}" type="parTrans" cxnId="{5A62874F-A5DA-D340-B7CF-07B8FD0C3E0E}">
      <dgm:prSet/>
      <dgm:spPr/>
      <dgm:t>
        <a:bodyPr/>
        <a:lstStyle/>
        <a:p>
          <a:endParaRPr lang="pl-PL"/>
        </a:p>
      </dgm:t>
    </dgm:pt>
    <dgm:pt modelId="{D8765B02-138E-444B-9613-BF752016B703}" type="sibTrans" cxnId="{5A62874F-A5DA-D340-B7CF-07B8FD0C3E0E}">
      <dgm:prSet/>
      <dgm:spPr/>
      <dgm:t>
        <a:bodyPr/>
        <a:lstStyle/>
        <a:p>
          <a:endParaRPr lang="pl-PL"/>
        </a:p>
      </dgm:t>
    </dgm:pt>
    <dgm:pt modelId="{2782CBCF-7715-B04C-BE61-CFC76B04312C}">
      <dgm:prSet phldrT="[Tekst]"/>
      <dgm:spPr/>
      <dgm:t>
        <a:bodyPr/>
        <a:lstStyle/>
        <a:p>
          <a:r>
            <a:rPr lang="pl-PL" dirty="0"/>
            <a:t>Specyfikacja</a:t>
          </a:r>
          <a:r>
            <a:rPr lang="pl-PL" baseline="0" dirty="0"/>
            <a:t> modelu</a:t>
          </a:r>
          <a:endParaRPr lang="pl-PL" dirty="0"/>
        </a:p>
      </dgm:t>
    </dgm:pt>
    <dgm:pt modelId="{8C58580C-5AA3-5847-A66D-7BC3A6BE3143}" type="parTrans" cxnId="{5EFC422D-E0C8-DB48-AFEF-08760E56CB57}">
      <dgm:prSet/>
      <dgm:spPr/>
      <dgm:t>
        <a:bodyPr/>
        <a:lstStyle/>
        <a:p>
          <a:endParaRPr lang="pl-PL"/>
        </a:p>
      </dgm:t>
    </dgm:pt>
    <dgm:pt modelId="{B36AD252-8C5F-2B40-B8A0-BCC09526E4E3}" type="sibTrans" cxnId="{5EFC422D-E0C8-DB48-AFEF-08760E56CB57}">
      <dgm:prSet/>
      <dgm:spPr/>
      <dgm:t>
        <a:bodyPr/>
        <a:lstStyle/>
        <a:p>
          <a:endParaRPr lang="pl-PL"/>
        </a:p>
      </dgm:t>
    </dgm:pt>
    <dgm:pt modelId="{ED19FA3A-9D4B-064C-A279-0A7FE8802097}">
      <dgm:prSet phldrT="[Tekst]"/>
      <dgm:spPr/>
      <dgm:t>
        <a:bodyPr/>
        <a:lstStyle/>
        <a:p>
          <a:r>
            <a:rPr lang="pl-PL" dirty="0"/>
            <a:t>Model symulacyjny</a:t>
          </a:r>
        </a:p>
      </dgm:t>
    </dgm:pt>
    <dgm:pt modelId="{971EBA4E-16F6-474F-948F-DAA5375D114C}" type="parTrans" cxnId="{9C084DFA-1C86-CA4D-A538-AEF20D83E360}">
      <dgm:prSet/>
      <dgm:spPr/>
      <dgm:t>
        <a:bodyPr/>
        <a:lstStyle/>
        <a:p>
          <a:endParaRPr lang="pl-PL"/>
        </a:p>
      </dgm:t>
    </dgm:pt>
    <dgm:pt modelId="{794BF899-6290-5940-929B-666E44420C89}" type="sibTrans" cxnId="{9C084DFA-1C86-CA4D-A538-AEF20D83E360}">
      <dgm:prSet/>
      <dgm:spPr/>
      <dgm:t>
        <a:bodyPr/>
        <a:lstStyle/>
        <a:p>
          <a:endParaRPr lang="pl-PL"/>
        </a:p>
      </dgm:t>
    </dgm:pt>
    <dgm:pt modelId="{98F60B3B-4158-0C4E-BC56-912DC9D36C07}" type="pres">
      <dgm:prSet presAssocID="{8DF52D38-722D-404D-8D17-C215C6DB8097}" presName="cycle" presStyleCnt="0">
        <dgm:presLayoutVars>
          <dgm:dir/>
          <dgm:resizeHandles val="exact"/>
        </dgm:presLayoutVars>
      </dgm:prSet>
      <dgm:spPr/>
    </dgm:pt>
    <dgm:pt modelId="{14E683AC-1FD2-D749-891E-424D10571265}" type="pres">
      <dgm:prSet presAssocID="{9A97ED8F-66E8-674B-8723-1B466C57F465}" presName="node" presStyleLbl="node1" presStyleIdx="0" presStyleCnt="3">
        <dgm:presLayoutVars>
          <dgm:bulletEnabled val="1"/>
        </dgm:presLayoutVars>
      </dgm:prSet>
      <dgm:spPr/>
    </dgm:pt>
    <dgm:pt modelId="{BC2E32FE-7424-E445-9579-28EE2957611E}" type="pres">
      <dgm:prSet presAssocID="{9A97ED8F-66E8-674B-8723-1B466C57F465}" presName="spNode" presStyleCnt="0"/>
      <dgm:spPr/>
    </dgm:pt>
    <dgm:pt modelId="{BFB2081F-2A83-BE40-844F-46FF7A6CF95F}" type="pres">
      <dgm:prSet presAssocID="{D8765B02-138E-444B-9613-BF752016B703}" presName="sibTrans" presStyleLbl="sibTrans1D1" presStyleIdx="0" presStyleCnt="3"/>
      <dgm:spPr/>
    </dgm:pt>
    <dgm:pt modelId="{FC8F4B57-AFA3-9E48-8BA9-480A4F76518E}" type="pres">
      <dgm:prSet presAssocID="{2782CBCF-7715-B04C-BE61-CFC76B04312C}" presName="node" presStyleLbl="node1" presStyleIdx="1" presStyleCnt="3">
        <dgm:presLayoutVars>
          <dgm:bulletEnabled val="1"/>
        </dgm:presLayoutVars>
      </dgm:prSet>
      <dgm:spPr/>
    </dgm:pt>
    <dgm:pt modelId="{2EA9C2B9-01FB-834E-8976-85D72BE3CB2E}" type="pres">
      <dgm:prSet presAssocID="{2782CBCF-7715-B04C-BE61-CFC76B04312C}" presName="spNode" presStyleCnt="0"/>
      <dgm:spPr/>
    </dgm:pt>
    <dgm:pt modelId="{4CB4E547-61BC-A34B-A7F6-DBFE5257ADA5}" type="pres">
      <dgm:prSet presAssocID="{B36AD252-8C5F-2B40-B8A0-BCC09526E4E3}" presName="sibTrans" presStyleLbl="sibTrans1D1" presStyleIdx="1" presStyleCnt="3"/>
      <dgm:spPr/>
    </dgm:pt>
    <dgm:pt modelId="{6AA865E3-680B-1E40-BC0A-FB265264E4EE}" type="pres">
      <dgm:prSet presAssocID="{ED19FA3A-9D4B-064C-A279-0A7FE8802097}" presName="node" presStyleLbl="node1" presStyleIdx="2" presStyleCnt="3">
        <dgm:presLayoutVars>
          <dgm:bulletEnabled val="1"/>
        </dgm:presLayoutVars>
      </dgm:prSet>
      <dgm:spPr/>
    </dgm:pt>
    <dgm:pt modelId="{2F2126C3-B55D-244F-B185-5CDC9B9290D8}" type="pres">
      <dgm:prSet presAssocID="{ED19FA3A-9D4B-064C-A279-0A7FE8802097}" presName="spNode" presStyleCnt="0"/>
      <dgm:spPr/>
    </dgm:pt>
    <dgm:pt modelId="{D11714C9-5653-034B-905F-10D6CAA877FC}" type="pres">
      <dgm:prSet presAssocID="{794BF899-6290-5940-929B-666E44420C89}" presName="sibTrans" presStyleLbl="sibTrans1D1" presStyleIdx="2" presStyleCnt="3"/>
      <dgm:spPr/>
    </dgm:pt>
  </dgm:ptLst>
  <dgm:cxnLst>
    <dgm:cxn modelId="{C8C62423-EC40-F142-851E-157D664AA05C}" type="presOf" srcId="{9A97ED8F-66E8-674B-8723-1B466C57F465}" destId="{14E683AC-1FD2-D749-891E-424D10571265}" srcOrd="0" destOrd="0" presId="urn:microsoft.com/office/officeart/2005/8/layout/cycle5"/>
    <dgm:cxn modelId="{5EFC422D-E0C8-DB48-AFEF-08760E56CB57}" srcId="{8DF52D38-722D-404D-8D17-C215C6DB8097}" destId="{2782CBCF-7715-B04C-BE61-CFC76B04312C}" srcOrd="1" destOrd="0" parTransId="{8C58580C-5AA3-5847-A66D-7BC3A6BE3143}" sibTransId="{B36AD252-8C5F-2B40-B8A0-BCC09526E4E3}"/>
    <dgm:cxn modelId="{5A62874F-A5DA-D340-B7CF-07B8FD0C3E0E}" srcId="{8DF52D38-722D-404D-8D17-C215C6DB8097}" destId="{9A97ED8F-66E8-674B-8723-1B466C57F465}" srcOrd="0" destOrd="0" parTransId="{445784C2-C35D-8B43-9846-807370766929}" sibTransId="{D8765B02-138E-444B-9613-BF752016B703}"/>
    <dgm:cxn modelId="{8D74536E-E7D5-9946-98ED-DDC625D662EB}" type="presOf" srcId="{8DF52D38-722D-404D-8D17-C215C6DB8097}" destId="{98F60B3B-4158-0C4E-BC56-912DC9D36C07}" srcOrd="0" destOrd="0" presId="urn:microsoft.com/office/officeart/2005/8/layout/cycle5"/>
    <dgm:cxn modelId="{87633A7F-E711-6746-BC28-1A259D4B0EAF}" type="presOf" srcId="{794BF899-6290-5940-929B-666E44420C89}" destId="{D11714C9-5653-034B-905F-10D6CAA877FC}" srcOrd="0" destOrd="0" presId="urn:microsoft.com/office/officeart/2005/8/layout/cycle5"/>
    <dgm:cxn modelId="{EFA1CF8A-DFF2-2E43-BC5A-8F3ED50A04BF}" type="presOf" srcId="{ED19FA3A-9D4B-064C-A279-0A7FE8802097}" destId="{6AA865E3-680B-1E40-BC0A-FB265264E4EE}" srcOrd="0" destOrd="0" presId="urn:microsoft.com/office/officeart/2005/8/layout/cycle5"/>
    <dgm:cxn modelId="{31EC08A0-A97E-E242-9C28-76D864F60CA5}" type="presOf" srcId="{2782CBCF-7715-B04C-BE61-CFC76B04312C}" destId="{FC8F4B57-AFA3-9E48-8BA9-480A4F76518E}" srcOrd="0" destOrd="0" presId="urn:microsoft.com/office/officeart/2005/8/layout/cycle5"/>
    <dgm:cxn modelId="{F5C1ADA7-2FAC-2A4F-8A10-2B76500687EA}" type="presOf" srcId="{D8765B02-138E-444B-9613-BF752016B703}" destId="{BFB2081F-2A83-BE40-844F-46FF7A6CF95F}" srcOrd="0" destOrd="0" presId="urn:microsoft.com/office/officeart/2005/8/layout/cycle5"/>
    <dgm:cxn modelId="{0A8AC9F9-C4F3-A441-937C-A75E151B6426}" type="presOf" srcId="{B36AD252-8C5F-2B40-B8A0-BCC09526E4E3}" destId="{4CB4E547-61BC-A34B-A7F6-DBFE5257ADA5}" srcOrd="0" destOrd="0" presId="urn:microsoft.com/office/officeart/2005/8/layout/cycle5"/>
    <dgm:cxn modelId="{9C084DFA-1C86-CA4D-A538-AEF20D83E360}" srcId="{8DF52D38-722D-404D-8D17-C215C6DB8097}" destId="{ED19FA3A-9D4B-064C-A279-0A7FE8802097}" srcOrd="2" destOrd="0" parTransId="{971EBA4E-16F6-474F-948F-DAA5375D114C}" sibTransId="{794BF899-6290-5940-929B-666E44420C89}"/>
    <dgm:cxn modelId="{0E645356-FF2C-2342-B92F-8CC5510589FB}" type="presParOf" srcId="{98F60B3B-4158-0C4E-BC56-912DC9D36C07}" destId="{14E683AC-1FD2-D749-891E-424D10571265}" srcOrd="0" destOrd="0" presId="urn:microsoft.com/office/officeart/2005/8/layout/cycle5"/>
    <dgm:cxn modelId="{62D1FAA4-CB0E-2641-8293-0E9083B5A29B}" type="presParOf" srcId="{98F60B3B-4158-0C4E-BC56-912DC9D36C07}" destId="{BC2E32FE-7424-E445-9579-28EE2957611E}" srcOrd="1" destOrd="0" presId="urn:microsoft.com/office/officeart/2005/8/layout/cycle5"/>
    <dgm:cxn modelId="{4A03D740-33A6-A94E-BEB8-354306CBAD2A}" type="presParOf" srcId="{98F60B3B-4158-0C4E-BC56-912DC9D36C07}" destId="{BFB2081F-2A83-BE40-844F-46FF7A6CF95F}" srcOrd="2" destOrd="0" presId="urn:microsoft.com/office/officeart/2005/8/layout/cycle5"/>
    <dgm:cxn modelId="{18CB3B6F-656B-C141-A68F-A9AFE62622B9}" type="presParOf" srcId="{98F60B3B-4158-0C4E-BC56-912DC9D36C07}" destId="{FC8F4B57-AFA3-9E48-8BA9-480A4F76518E}" srcOrd="3" destOrd="0" presId="urn:microsoft.com/office/officeart/2005/8/layout/cycle5"/>
    <dgm:cxn modelId="{8FAC9CC7-E3AE-0F4C-8B4A-EA3D36BF4696}" type="presParOf" srcId="{98F60B3B-4158-0C4E-BC56-912DC9D36C07}" destId="{2EA9C2B9-01FB-834E-8976-85D72BE3CB2E}" srcOrd="4" destOrd="0" presId="urn:microsoft.com/office/officeart/2005/8/layout/cycle5"/>
    <dgm:cxn modelId="{C57E08EE-F28E-4F43-8BD3-8968E53BAD04}" type="presParOf" srcId="{98F60B3B-4158-0C4E-BC56-912DC9D36C07}" destId="{4CB4E547-61BC-A34B-A7F6-DBFE5257ADA5}" srcOrd="5" destOrd="0" presId="urn:microsoft.com/office/officeart/2005/8/layout/cycle5"/>
    <dgm:cxn modelId="{D893259D-953D-1148-B0E7-6EE2B6D61873}" type="presParOf" srcId="{98F60B3B-4158-0C4E-BC56-912DC9D36C07}" destId="{6AA865E3-680B-1E40-BC0A-FB265264E4EE}" srcOrd="6" destOrd="0" presId="urn:microsoft.com/office/officeart/2005/8/layout/cycle5"/>
    <dgm:cxn modelId="{14D21058-90C4-8F4A-B0FB-4F81595E4150}" type="presParOf" srcId="{98F60B3B-4158-0C4E-BC56-912DC9D36C07}" destId="{2F2126C3-B55D-244F-B185-5CDC9B9290D8}" srcOrd="7" destOrd="0" presId="urn:microsoft.com/office/officeart/2005/8/layout/cycle5"/>
    <dgm:cxn modelId="{4CE4CF97-3B91-9B4B-8369-FB7B83D5AE65}" type="presParOf" srcId="{98F60B3B-4158-0C4E-BC56-912DC9D36C07}" destId="{D11714C9-5653-034B-905F-10D6CAA877FC}" srcOrd="8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E683AC-1FD2-D749-891E-424D10571265}">
      <dsp:nvSpPr>
        <dsp:cNvPr id="0" name=""/>
        <dsp:cNvSpPr/>
      </dsp:nvSpPr>
      <dsp:spPr>
        <a:xfrm>
          <a:off x="3097617" y="547"/>
          <a:ext cx="2229626" cy="144925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kern="1200" dirty="0"/>
            <a:t>Obiekt rzeczywisty</a:t>
          </a:r>
        </a:p>
      </dsp:txBody>
      <dsp:txXfrm>
        <a:off x="3168364" y="71294"/>
        <a:ext cx="2088132" cy="1307763"/>
      </dsp:txXfrm>
    </dsp:sp>
    <dsp:sp modelId="{BFB2081F-2A83-BE40-844F-46FF7A6CF95F}">
      <dsp:nvSpPr>
        <dsp:cNvPr id="0" name=""/>
        <dsp:cNvSpPr/>
      </dsp:nvSpPr>
      <dsp:spPr>
        <a:xfrm>
          <a:off x="2278607" y="725175"/>
          <a:ext cx="3867647" cy="3867647"/>
        </a:xfrm>
        <a:custGeom>
          <a:avLst/>
          <a:gdLst/>
          <a:ahLst/>
          <a:cxnLst/>
          <a:rect l="0" t="0" r="0" b="0"/>
          <a:pathLst>
            <a:path>
              <a:moveTo>
                <a:pt x="3348275" y="615112"/>
              </a:moveTo>
              <a:arcTo wR="1933823" hR="1933823" stAng="19020372" swAng="2303303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8F4B57-AFA3-9E48-8BA9-480A4F76518E}">
      <dsp:nvSpPr>
        <dsp:cNvPr id="0" name=""/>
        <dsp:cNvSpPr/>
      </dsp:nvSpPr>
      <dsp:spPr>
        <a:xfrm>
          <a:off x="4772358" y="2901282"/>
          <a:ext cx="2229626" cy="144925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kern="1200" dirty="0"/>
            <a:t>Specyfikacja</a:t>
          </a:r>
          <a:r>
            <a:rPr lang="pl-PL" sz="2600" kern="1200" baseline="0" dirty="0"/>
            <a:t> modelu</a:t>
          </a:r>
          <a:endParaRPr lang="pl-PL" sz="2600" kern="1200" dirty="0"/>
        </a:p>
      </dsp:txBody>
      <dsp:txXfrm>
        <a:off x="4843105" y="2972029"/>
        <a:ext cx="2088132" cy="1307763"/>
      </dsp:txXfrm>
    </dsp:sp>
    <dsp:sp modelId="{4CB4E547-61BC-A34B-A7F6-DBFE5257ADA5}">
      <dsp:nvSpPr>
        <dsp:cNvPr id="0" name=""/>
        <dsp:cNvSpPr/>
      </dsp:nvSpPr>
      <dsp:spPr>
        <a:xfrm>
          <a:off x="2278607" y="725175"/>
          <a:ext cx="3867647" cy="3867647"/>
        </a:xfrm>
        <a:custGeom>
          <a:avLst/>
          <a:gdLst/>
          <a:ahLst/>
          <a:cxnLst/>
          <a:rect l="0" t="0" r="0" b="0"/>
          <a:pathLst>
            <a:path>
              <a:moveTo>
                <a:pt x="2527613" y="3774227"/>
              </a:moveTo>
              <a:arcTo wR="1933823" hR="1933823" stAng="4327091" swAng="2145818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A865E3-680B-1E40-BC0A-FB265264E4EE}">
      <dsp:nvSpPr>
        <dsp:cNvPr id="0" name=""/>
        <dsp:cNvSpPr/>
      </dsp:nvSpPr>
      <dsp:spPr>
        <a:xfrm>
          <a:off x="1422877" y="2901282"/>
          <a:ext cx="2229626" cy="144925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kern="1200" dirty="0"/>
            <a:t>Model symulacyjny</a:t>
          </a:r>
        </a:p>
      </dsp:txBody>
      <dsp:txXfrm>
        <a:off x="1493624" y="2972029"/>
        <a:ext cx="2088132" cy="1307763"/>
      </dsp:txXfrm>
    </dsp:sp>
    <dsp:sp modelId="{D11714C9-5653-034B-905F-10D6CAA877FC}">
      <dsp:nvSpPr>
        <dsp:cNvPr id="0" name=""/>
        <dsp:cNvSpPr/>
      </dsp:nvSpPr>
      <dsp:spPr>
        <a:xfrm>
          <a:off x="2278607" y="725175"/>
          <a:ext cx="3867647" cy="3867647"/>
        </a:xfrm>
        <a:custGeom>
          <a:avLst/>
          <a:gdLst/>
          <a:ahLst/>
          <a:cxnLst/>
          <a:rect l="0" t="0" r="0" b="0"/>
          <a:pathLst>
            <a:path>
              <a:moveTo>
                <a:pt x="6243" y="1778550"/>
              </a:moveTo>
              <a:arcTo wR="1933823" hR="1933823" stAng="11076325" swAng="2303303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43213" cy="4349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717925" y="0"/>
            <a:ext cx="2843213" cy="4349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125D14-7191-7A41-B01F-011AA8CB6093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327150" y="1085850"/>
            <a:ext cx="3908425" cy="2932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55638" y="4179888"/>
            <a:ext cx="5251450" cy="34210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251825"/>
            <a:ext cx="2843213" cy="434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717925" y="8251825"/>
            <a:ext cx="2843213" cy="434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7D38DD-8B54-8045-AAB4-F8395B7CE60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07720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[2]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D38DD-8B54-8045-AAB4-F8395B7CE60E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7885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Często</a:t>
            </a:r>
            <a:r>
              <a:rPr lang="pl-PL" baseline="0" dirty="0"/>
              <a:t> mówi się o budowie modelu konceptualnego (to odpowiada p. 2 – 3)</a:t>
            </a:r>
            <a:endParaRPr lang="pl-PL" dirty="0"/>
          </a:p>
          <a:p>
            <a:endParaRPr lang="pl-PL" dirty="0"/>
          </a:p>
          <a:p>
            <a:r>
              <a:rPr lang="pl-PL" dirty="0"/>
              <a:t>Tak naprawdę jest to proces</a:t>
            </a:r>
            <a:r>
              <a:rPr lang="pl-PL" baseline="0" dirty="0"/>
              <a:t> iteracyjny.</a:t>
            </a:r>
          </a:p>
          <a:p>
            <a:r>
              <a:rPr lang="pl-PL" baseline="0" dirty="0"/>
              <a:t>Ocena modelu (szczególnie jego adekwatności – walidacja) pozwala na zaplanowanie i wprowadzenie zmian w modelu (powrót do punktu 2).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D38DD-8B54-8045-AAB4-F8395B7CE60E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9019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D38DD-8B54-8045-AAB4-F8395B7CE60E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77212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pl-PL" dirty="0"/>
              <a:t>Dobre</a:t>
            </a:r>
            <a:r>
              <a:rPr lang="pl-PL" baseline="0" dirty="0"/>
              <a:t> techniki programistyczne same w sobie trudno uznać za metodę weryfikacji modelu. Jednak pamiętając, że celem weryfikacji jest sprawdzenie czy model został dobrze zbudowany – to: a. sprawdzenie czy zastosowano dobre techniki programistyczne pozwala na określenie prawdopodobieństwa popełnienia błędu, b. ułatwia debugowanie. Do tego punktu można również zaliczyć przygotowanie właściwej dokumentacji.</a:t>
            </a:r>
          </a:p>
          <a:p>
            <a:pPr marL="228600" indent="-228600">
              <a:buAutoNum type="arabicPeriod"/>
            </a:pPr>
            <a:r>
              <a:rPr lang="pl-PL" baseline="0" dirty="0"/>
              <a:t>Tzw. </a:t>
            </a:r>
            <a:r>
              <a:rPr lang="pl-PL" baseline="0" dirty="0" err="1"/>
              <a:t>Breakpoint</a:t>
            </a:r>
            <a:r>
              <a:rPr lang="pl-PL" baseline="0" dirty="0"/>
              <a:t>, </a:t>
            </a:r>
            <a:r>
              <a:rPr lang="pl-PL" baseline="0" dirty="0" err="1"/>
              <a:t>watchpoint</a:t>
            </a:r>
            <a:r>
              <a:rPr lang="pl-PL" baseline="0" dirty="0"/>
              <a:t>, etc. – sprawdzamy czy wartości zmiennych wyliczanych pośrednio są zgodne z założonymi („wyliczonymi ręcznie” lub czy „na oko” nie odbiegają od tego czego byśmy się spodziewali). Do tej metody zaliczyć należy również: weryfikację generatorów liczb pseudolosowych, </a:t>
            </a:r>
          </a:p>
          <a:p>
            <a:pPr marL="228600" indent="-228600">
              <a:buAutoNum type="arabicPeriod"/>
            </a:pPr>
            <a:r>
              <a:rPr lang="pl-PL" dirty="0"/>
              <a:t>Dla przypadków dla których możliwe jest uzyskanie wyników</a:t>
            </a:r>
            <a:r>
              <a:rPr lang="pl-PL" baseline="0" dirty="0"/>
              <a:t> analitycznych porównujemy czy symulacja zwróciła „porównywalne” wyniki (stosujemy testy statystyczne). Jeśli nie da się sprawdzić z wynikami analitycznymi to dla przykładowych uruchomień sprawdź czy wyniki symulacji wydają się być zgodne z intuicją?</a:t>
            </a:r>
          </a:p>
          <a:p>
            <a:pPr marL="228600" indent="-228600">
              <a:buAutoNum type="arabicPeriod"/>
            </a:pPr>
            <a:r>
              <a:rPr lang="pl-PL" baseline="0" dirty="0"/>
              <a:t>Wizualne obserwowanie czy zachowanie obiektu w trakcie symulacji odpowiada temu co się spodziewamy (np. dla symulatora krzyżówki – czy nie pojawia się jakiś samochód, który „przelatuje</a:t>
            </a:r>
          </a:p>
          <a:p>
            <a:pPr marL="228600" indent="-228600">
              <a:buAutoNum type="arabicPeriod"/>
            </a:pP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D38DD-8B54-8045-AAB4-F8395B7CE60E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87833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D38DD-8B54-8045-AAB4-F8395B7CE60E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010919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1. Wynik walidacji zależy od aspektów</a:t>
            </a:r>
            <a:r>
              <a:rPr lang="pl-PL" baseline="0" dirty="0"/>
              <a:t> obiektu jakie chcemy padać – ten sam model (dla tego samego obiektu) może przejść i może nie przejść pozytywnie procesu </a:t>
            </a:r>
            <a:r>
              <a:rPr lang="pl-PL" baseline="0" dirty="0" err="1"/>
              <a:t>walidaji</a:t>
            </a:r>
            <a:endParaRPr lang="pl-PL" baseline="0" dirty="0"/>
          </a:p>
          <a:p>
            <a:r>
              <a:rPr lang="pl-PL" baseline="0" dirty="0"/>
              <a:t>2. Model budowany na etapie projektowania obiektu </a:t>
            </a:r>
          </a:p>
          <a:p>
            <a:r>
              <a:rPr lang="pl-PL" baseline="0" dirty="0"/>
              <a:t>3. Każdy ma inne spojrzenie na świat – każdy inaczej interpretuje rzeczywistość</a:t>
            </a:r>
          </a:p>
          <a:p>
            <a:r>
              <a:rPr lang="pl-PL" baseline="0" dirty="0"/>
              <a:t>4. Nawet jeśli nie są obarczone niepewnością, to są tylko próbką całości.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D38DD-8B54-8045-AAB4-F8395B7CE60E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498356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pl-PL" dirty="0"/>
              <a:t>Np. chcemy zasymulować wojnę nuklearną</a:t>
            </a:r>
          </a:p>
          <a:p>
            <a:pPr marL="228600" indent="-228600">
              <a:buAutoNum type="arabicPeriod"/>
            </a:pPr>
            <a:r>
              <a:rPr lang="pl-PL" dirty="0"/>
              <a:t>Np. chcemy wdrożyć</a:t>
            </a:r>
            <a:r>
              <a:rPr lang="pl-PL" baseline="0" dirty="0"/>
              <a:t> nowe zasady harmonogramowania pracy w firmie (ale dysponujemy tylko danymi dla starych zasad)</a:t>
            </a:r>
          </a:p>
          <a:p>
            <a:pPr marL="228600" indent="-228600">
              <a:buAutoNum type="arabicPeriod"/>
            </a:pPr>
            <a:r>
              <a:rPr lang="pl-PL" baseline="0" dirty="0"/>
              <a:t>Np. w wojsku - dane z manewrów (traktowane jak z rzeczywistych działań wojennych)</a:t>
            </a:r>
          </a:p>
          <a:p>
            <a:pPr marL="228600" indent="-228600">
              <a:buAutoNum type="arabicPeriod"/>
            </a:pPr>
            <a:r>
              <a:rPr lang="pl-PL" baseline="0" dirty="0"/>
              <a:t>Duża ilość danych z reguły poprawia jakość walidacji, ale jeśli użyjemy zbyt szerokiego zakresu danych może okazać się, że nie odpowiadają one aktualnej sytuacji – obiekt mógł się zmienić ale i aktualne otoczenie obiektu może być inne (np. dane ekonomiczne z czasów II wojny światowej)</a:t>
            </a:r>
          </a:p>
          <a:p>
            <a:pPr marL="228600" indent="-228600">
              <a:buAutoNum type="arabicPeriod"/>
            </a:pP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D38DD-8B54-8045-AAB4-F8395B7CE60E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14789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algn="l">
              <a:buAutoNum type="arabicPeriod"/>
            </a:pPr>
            <a:r>
              <a:rPr lang="pl-PL" dirty="0"/>
              <a:t>Najpierw powinniśmy</a:t>
            </a:r>
            <a:r>
              <a:rPr lang="pl-PL" baseline="0" dirty="0"/>
              <a:t> użyć danych historycznych, ale ważne by ich użyć w historycznej (właściwej) kolejności; dopiero później można próbkować dane (np. na podstawie danych historycznych określić rozkład z jakiego pochodziły, </a:t>
            </a:r>
            <a:r>
              <a:rPr lang="pl-PL" baseline="0" dirty="0" err="1"/>
              <a:t>wyestymować</a:t>
            </a:r>
            <a:r>
              <a:rPr lang="pl-PL" baseline="0" dirty="0"/>
              <a:t> jego parametry i losować dane wejściowe dla innych przypadków, obserwując czy nowe wyjścia zgodne są z naszymi oczekiwaniami: np. podwajamy szybkość strumienia napływu klientów do sklepu – czego oczekujemy po średnim czasie przebywania klient w systemie?)</a:t>
            </a:r>
            <a:br>
              <a:rPr lang="pl-PL" baseline="0" dirty="0"/>
            </a:br>
            <a:r>
              <a:rPr lang="pl-PL" baseline="0" dirty="0"/>
              <a:t>- Test </a:t>
            </a:r>
            <a:r>
              <a:rPr lang="pl-PL" baseline="0" dirty="0" err="1"/>
              <a:t>Schrubena</a:t>
            </a:r>
            <a:r>
              <a:rPr lang="pl-PL" baseline="0" dirty="0"/>
              <a:t> Turinga – ekspert dostaje wykresy i ma poznać, który jest z symulatora (analogia do testu Turinga)</a:t>
            </a:r>
            <a:br>
              <a:rPr lang="pl-PL" baseline="0" dirty="0"/>
            </a:br>
            <a:r>
              <a:rPr lang="pl-PL" baseline="0" dirty="0"/>
              <a:t>- testy statystyczne: np. test T-studenta dla jednej próby, testy sprawdzające korelację</a:t>
            </a:r>
          </a:p>
          <a:p>
            <a:pPr marL="228600" indent="-228600" algn="l">
              <a:buAutoNum type="arabicPeriod"/>
            </a:pPr>
            <a:r>
              <a:rPr lang="pl-PL" baseline="0" dirty="0"/>
              <a:t>Black-</a:t>
            </a:r>
            <a:r>
              <a:rPr lang="pl-PL" baseline="0" dirty="0" err="1"/>
              <a:t>box</a:t>
            </a:r>
            <a:r>
              <a:rPr lang="pl-PL" baseline="0" dirty="0"/>
              <a:t> – nie interesuje nas co dzieje się „wewnątrz” obiektu; White-</a:t>
            </a:r>
            <a:r>
              <a:rPr lang="pl-PL" baseline="0" dirty="0" err="1"/>
              <a:t>box</a:t>
            </a:r>
            <a:r>
              <a:rPr lang="pl-PL" baseline="0" dirty="0"/>
              <a:t> – dekomponujemy nasz obiekt na mniejsze obiekty i dokonujemy ich walidacji (analogia do </a:t>
            </a:r>
            <a:r>
              <a:rPr lang="pl-PL" baseline="0" dirty="0" err="1"/>
              <a:t>watchpointów</a:t>
            </a:r>
            <a:r>
              <a:rPr lang="pl-PL" baseline="0" dirty="0"/>
              <a:t>).</a:t>
            </a:r>
          </a:p>
          <a:p>
            <a:pPr marL="228600" indent="-228600" algn="l">
              <a:buAutoNum type="arabicPeriod"/>
            </a:pPr>
            <a:r>
              <a:rPr lang="pl-PL" dirty="0"/>
              <a:t>Dla losowych prób - czy wyjścia zmieniają się znacznie wraz ze zmianami jakiś wejść? Jeśli tak –</a:t>
            </a:r>
            <a:r>
              <a:rPr lang="pl-PL" baseline="0" dirty="0"/>
              <a:t> postępujemy z nimi ostrożnie.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D38DD-8B54-8045-AAB4-F8395B7CE60E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17830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52" name="Picture 12" descr="pasek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22425"/>
            <a:ext cx="1655763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1655763" y="1628775"/>
            <a:ext cx="7524750" cy="5229225"/>
          </a:xfrm>
          <a:prstGeom prst="rect">
            <a:avLst/>
          </a:prstGeom>
          <a:solidFill>
            <a:srgbClr val="A7190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l-PL"/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873250" y="2130425"/>
            <a:ext cx="7089775" cy="20193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pl-PL" altLang="pl-PL" noProof="0"/>
              <a:t>Kliknij, aby edytować styl wzorca tytułu</a:t>
            </a:r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73250" y="5697538"/>
            <a:ext cx="7089775" cy="900112"/>
          </a:xfrm>
        </p:spPr>
        <p:txBody>
          <a:bodyPr anchor="b"/>
          <a:lstStyle>
            <a:lvl1pPr marL="0" indent="0" algn="ctr">
              <a:buFontTx/>
              <a:buNone/>
              <a:defRPr sz="2000">
                <a:solidFill>
                  <a:srgbClr val="FFD3A1"/>
                </a:solidFill>
              </a:defRPr>
            </a:lvl1pPr>
          </a:lstStyle>
          <a:p>
            <a:pPr lvl="0"/>
            <a:r>
              <a:rPr lang="pl-PL" altLang="pl-PL" noProof="0"/>
              <a:t>Kliknij, aby edytować styl wzorca podtytułu</a:t>
            </a:r>
          </a:p>
        </p:txBody>
      </p:sp>
      <p:pic>
        <p:nvPicPr>
          <p:cNvPr id="35856" name="Picture 16" descr="logo pl duz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7463"/>
            <a:ext cx="7742238" cy="1646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randomBa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2002974988"/>
      </p:ext>
    </p:extLst>
  </p:cSld>
  <p:clrMapOvr>
    <a:masterClrMapping/>
  </p:clrMapOvr>
  <p:transition>
    <p:randomBa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46972944"/>
      </p:ext>
    </p:extLst>
  </p:cSld>
  <p:clrMapOvr>
    <a:masterClrMapping/>
  </p:clrMapOvr>
  <p:transition>
    <p:randomBa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611188" y="1881188"/>
            <a:ext cx="4135437" cy="4860925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899025" y="1881188"/>
            <a:ext cx="4137025" cy="4860925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1347771359"/>
      </p:ext>
    </p:extLst>
  </p:cSld>
  <p:clrMapOvr>
    <a:masterClrMapping/>
  </p:clrMapOvr>
  <p:transition>
    <p:randomBa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335722157"/>
      </p:ext>
    </p:extLst>
  </p:cSld>
  <p:clrMapOvr>
    <a:masterClrMapping/>
  </p:clrMapOvr>
  <p:transition>
    <p:randomBa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</p:spTree>
    <p:extLst>
      <p:ext uri="{BB962C8B-B14F-4D97-AF65-F5344CB8AC3E}">
        <p14:creationId xmlns:p14="http://schemas.microsoft.com/office/powerpoint/2010/main" val="1042752030"/>
      </p:ext>
    </p:extLst>
  </p:cSld>
  <p:clrMapOvr>
    <a:masterClrMapping/>
  </p:clrMapOvr>
  <p:transition>
    <p:randomBa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808690"/>
      </p:ext>
    </p:extLst>
  </p:cSld>
  <p:clrMapOvr>
    <a:masterClrMapping/>
  </p:clrMapOvr>
  <p:transition>
    <p:randomBa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1305662605"/>
      </p:ext>
    </p:extLst>
  </p:cSld>
  <p:clrMapOvr>
    <a:masterClrMapping/>
  </p:clrMapOvr>
  <p:transition>
    <p:randomBa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1283497189"/>
      </p:ext>
    </p:extLst>
  </p:cSld>
  <p:clrMapOvr>
    <a:masterClrMapping/>
  </p:clrMapOvr>
  <p:transition>
    <p:randomBa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264021408"/>
      </p:ext>
    </p:extLst>
  </p:cSld>
  <p:clrMapOvr>
    <a:masterClrMapping/>
  </p:clrMapOvr>
  <p:transition>
    <p:randomBa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931025" y="630238"/>
            <a:ext cx="2105025" cy="6111875"/>
          </a:xfrm>
        </p:spPr>
        <p:txBody>
          <a:bodyPr vert="eaVert"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>
          <a:xfrm>
            <a:off x="611188" y="630238"/>
            <a:ext cx="6167437" cy="611187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706589554"/>
      </p:ext>
    </p:extLst>
  </p:cSld>
  <p:clrMapOvr>
    <a:masterClrMapping/>
  </p:clrMapOvr>
  <p:transition>
    <p:randomBa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503238" y="481013"/>
            <a:ext cx="8640762" cy="1292225"/>
          </a:xfrm>
          <a:prstGeom prst="rect">
            <a:avLst/>
          </a:prstGeom>
          <a:solidFill>
            <a:srgbClr val="A7190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l-PL"/>
          </a:p>
        </p:txBody>
      </p:sp>
      <p:sp>
        <p:nvSpPr>
          <p:cNvPr id="9229" name="Rectangle 13"/>
          <p:cNvSpPr>
            <a:spLocks noChangeArrowheads="1"/>
          </p:cNvSpPr>
          <p:nvPr/>
        </p:nvSpPr>
        <p:spPr bwMode="auto">
          <a:xfrm flipH="1">
            <a:off x="0" y="1773238"/>
            <a:ext cx="503238" cy="5084762"/>
          </a:xfrm>
          <a:prstGeom prst="rect">
            <a:avLst/>
          </a:prstGeom>
          <a:solidFill>
            <a:srgbClr val="A7190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l-PL"/>
          </a:p>
        </p:txBody>
      </p:sp>
      <p:sp>
        <p:nvSpPr>
          <p:cNvPr id="9230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630238"/>
            <a:ext cx="8424862" cy="103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 wzorca tytułu</a:t>
            </a:r>
          </a:p>
        </p:txBody>
      </p:sp>
      <p:sp>
        <p:nvSpPr>
          <p:cNvPr id="923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881188"/>
            <a:ext cx="8424862" cy="4860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style wzorca tekstu</a:t>
            </a:r>
          </a:p>
          <a:p>
            <a:pPr lvl="1"/>
            <a:r>
              <a:rPr lang="pl-PL" altLang="pl-PL"/>
              <a:t>Drugi poziom</a:t>
            </a:r>
          </a:p>
          <a:p>
            <a:pPr lvl="2"/>
            <a:r>
              <a:rPr lang="pl-PL" altLang="pl-PL"/>
              <a:t>Trzeci poziom</a:t>
            </a:r>
          </a:p>
          <a:p>
            <a:pPr lvl="3"/>
            <a:r>
              <a:rPr lang="pl-PL" altLang="pl-PL"/>
              <a:t>Czwarty poziom</a:t>
            </a:r>
          </a:p>
          <a:p>
            <a:pPr lvl="4"/>
            <a:r>
              <a:rPr lang="pl-PL" altLang="pl-PL"/>
              <a:t>Piąty poziom</a:t>
            </a:r>
          </a:p>
        </p:txBody>
      </p:sp>
      <p:pic>
        <p:nvPicPr>
          <p:cNvPr id="9234" name="Picture 18" descr="logo pl male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-19050"/>
            <a:ext cx="2341563" cy="50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>
    <p:randomBar/>
  </p:transition>
  <p:txStyles>
    <p:titleStyle>
      <a:lvl1pPr algn="l" rtl="0" fontAlgn="base"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pl-PL" altLang="pl-PL" dirty="0"/>
              <a:t>Symulacja Komputerowa</a:t>
            </a:r>
            <a:br>
              <a:rPr lang="pl-PL" altLang="pl-PL" dirty="0"/>
            </a:br>
            <a:r>
              <a:rPr lang="pl-PL" altLang="pl-PL" dirty="0"/>
              <a:t>Wykład 7: Modele symulacyjne</a:t>
            </a:r>
            <a:br>
              <a:rPr lang="pl-PL" altLang="pl-PL"/>
            </a:br>
            <a:r>
              <a:rPr lang="pl-PL" altLang="pl-PL"/>
              <a:t>Weryfikacja </a:t>
            </a:r>
            <a:r>
              <a:rPr lang="pl-PL" altLang="pl-PL" dirty="0"/>
              <a:t>i walidacja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l-PL" altLang="pl-PL" dirty="0"/>
          </a:p>
          <a:p>
            <a:r>
              <a:rPr lang="pl-PL" altLang="pl-PL" dirty="0"/>
              <a:t>Dr inż. Dariusz Gąsior</a:t>
            </a:r>
          </a:p>
        </p:txBody>
      </p:sp>
    </p:spTree>
  </p:cSld>
  <p:clrMapOvr>
    <a:masterClrMapping/>
  </p:clrMapOvr>
  <p:transition>
    <p:randomBa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Model symulacyjny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sz="2800" b="1" dirty="0"/>
              <a:t>Model symulacyjny</a:t>
            </a:r>
            <a:r>
              <a:rPr lang="pl-PL" sz="2800" dirty="0"/>
              <a:t> to model matematyczny zapisany w języku programu komputerowego. (J. Prokop, 2015)</a:t>
            </a:r>
          </a:p>
          <a:p>
            <a:r>
              <a:rPr lang="pl-PL" sz="2800" b="1" dirty="0"/>
              <a:t>Model symulacyjny (symulator) </a:t>
            </a:r>
            <a:r>
              <a:rPr lang="pl-PL" sz="2800" dirty="0"/>
              <a:t>jest to wynik, efekt końcowy szeregu czynności wyróżniania i formalizacji cech systemu rzeczywistego oraz ustalania relacji zachodzących pomiędzy tymi cechami w czasie, w celu znalezienia ich odpowiedników w systemie wtórnym. (L. Kondratowicz, 1978)</a:t>
            </a:r>
            <a:endParaRPr lang="pl-PL" sz="2000" i="1" dirty="0"/>
          </a:p>
          <a:p>
            <a:endParaRPr lang="pl-PL" sz="2800" dirty="0"/>
          </a:p>
        </p:txBody>
      </p:sp>
    </p:spTree>
    <p:extLst>
      <p:ext uri="{BB962C8B-B14F-4D97-AF65-F5344CB8AC3E}">
        <p14:creationId xmlns:p14="http://schemas.microsoft.com/office/powerpoint/2010/main" val="714692921"/>
      </p:ext>
    </p:extLst>
  </p:cSld>
  <p:clrMapOvr>
    <a:masterClrMapping/>
  </p:clrMapOvr>
  <p:transition>
    <p:randomBa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Etapy tworzenia modeli symulacyjnych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l-PL" sz="2400" dirty="0"/>
              <a:t>określenie celów (po co model? co będziemy badać?), 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2400" dirty="0"/>
              <a:t>koncept modelu (w głowie, zastanawiamy się który model wybrać, zastanawiamy się jakie są istotne zmienne stanu), 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2400" dirty="0"/>
              <a:t>specyfikacja modelu – model matematyczny (na papierze, schematy, równania), 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2400" dirty="0"/>
              <a:t>model obliczeniowy (w formie programu), 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2400" dirty="0"/>
              <a:t>weryfikacja (czy budujemy dobrze model – zgodny ze specyfikacją?), 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2400" dirty="0"/>
              <a:t>walidacja (czy budujemy dobry model?).</a:t>
            </a:r>
          </a:p>
          <a:p>
            <a:pPr marL="0" indent="0">
              <a:buNone/>
            </a:pPr>
            <a:endParaRPr lang="pl-PL" sz="2800" dirty="0"/>
          </a:p>
        </p:txBody>
      </p:sp>
    </p:spTree>
    <p:extLst>
      <p:ext uri="{BB962C8B-B14F-4D97-AF65-F5344CB8AC3E}">
        <p14:creationId xmlns:p14="http://schemas.microsoft.com/office/powerpoint/2010/main" val="1910013270"/>
      </p:ext>
    </p:extLst>
  </p:cSld>
  <p:clrMapOvr>
    <a:masterClrMapping/>
  </p:clrMapOvr>
  <p:transition>
    <p:randomBa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Weryfikacja i walidacja modelu</a:t>
            </a:r>
          </a:p>
        </p:txBody>
      </p:sp>
      <p:graphicFrame>
        <p:nvGraphicFramePr>
          <p:cNvPr id="4" name="Symbol zastępczy zawartości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6005580"/>
              </p:ext>
            </p:extLst>
          </p:nvPr>
        </p:nvGraphicFramePr>
        <p:xfrm>
          <a:off x="611188" y="1881188"/>
          <a:ext cx="8424862" cy="4860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PoleTekstowe 4"/>
          <p:cNvSpPr txBox="1"/>
          <p:nvPr/>
        </p:nvSpPr>
        <p:spPr>
          <a:xfrm>
            <a:off x="6804248" y="3609020"/>
            <a:ext cx="16594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analiza </a:t>
            </a:r>
          </a:p>
          <a:p>
            <a:r>
              <a:rPr lang="pl-PL" dirty="0"/>
              <a:t>i modelowanie</a:t>
            </a:r>
          </a:p>
        </p:txBody>
      </p:sp>
      <p:sp>
        <p:nvSpPr>
          <p:cNvPr id="6" name="PoleTekstowe 5"/>
          <p:cNvSpPr txBox="1"/>
          <p:nvPr/>
        </p:nvSpPr>
        <p:spPr>
          <a:xfrm>
            <a:off x="3599892" y="6516052"/>
            <a:ext cx="3070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Implementacja </a:t>
            </a:r>
            <a:r>
              <a:rPr lang="pl-PL"/>
              <a:t>(kodowanie)</a:t>
            </a:r>
            <a:endParaRPr lang="pl-PL" dirty="0"/>
          </a:p>
        </p:txBody>
      </p:sp>
      <p:sp>
        <p:nvSpPr>
          <p:cNvPr id="7" name="PoleTekstowe 6"/>
          <p:cNvSpPr txBox="1"/>
          <p:nvPr/>
        </p:nvSpPr>
        <p:spPr>
          <a:xfrm>
            <a:off x="1547664" y="3599728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/>
              <a:t>eksperyment</a:t>
            </a:r>
          </a:p>
        </p:txBody>
      </p:sp>
      <p:sp>
        <p:nvSpPr>
          <p:cNvPr id="9" name="Strzałka w górę i w dół 8"/>
          <p:cNvSpPr/>
          <p:nvPr/>
        </p:nvSpPr>
        <p:spPr>
          <a:xfrm rot="2362513">
            <a:off x="3537534" y="3402447"/>
            <a:ext cx="576064" cy="1404156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Strzałka w górę i w dół 10"/>
          <p:cNvSpPr/>
          <p:nvPr/>
        </p:nvSpPr>
        <p:spPr>
          <a:xfrm rot="5400000">
            <a:off x="4539751" y="4961700"/>
            <a:ext cx="576064" cy="1072611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2" name="PoleTekstowe 11"/>
          <p:cNvSpPr txBox="1"/>
          <p:nvPr/>
        </p:nvSpPr>
        <p:spPr>
          <a:xfrm>
            <a:off x="4156577" y="4863214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/>
              <a:t>weryfikacja</a:t>
            </a:r>
          </a:p>
        </p:txBody>
      </p:sp>
      <p:sp>
        <p:nvSpPr>
          <p:cNvPr id="13" name="PoleTekstowe 12"/>
          <p:cNvSpPr txBox="1"/>
          <p:nvPr/>
        </p:nvSpPr>
        <p:spPr>
          <a:xfrm rot="18601596">
            <a:off x="2989267" y="3669124"/>
            <a:ext cx="15392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600" dirty="0"/>
              <a:t>walidacja</a:t>
            </a:r>
          </a:p>
          <a:p>
            <a:pPr algn="ctr"/>
            <a:r>
              <a:rPr lang="pl-PL" sz="1600" dirty="0"/>
              <a:t>modelu </a:t>
            </a:r>
          </a:p>
          <a:p>
            <a:pPr algn="ctr"/>
            <a:r>
              <a:rPr lang="pl-PL" sz="1600" dirty="0"/>
              <a:t>symulacyjnego</a:t>
            </a:r>
          </a:p>
        </p:txBody>
      </p:sp>
    </p:spTree>
    <p:extLst>
      <p:ext uri="{BB962C8B-B14F-4D97-AF65-F5344CB8AC3E}">
        <p14:creationId xmlns:p14="http://schemas.microsoft.com/office/powerpoint/2010/main" val="93570253"/>
      </p:ext>
    </p:extLst>
  </p:cSld>
  <p:clrMapOvr>
    <a:masterClrMapping/>
  </p:clrMapOvr>
  <p:transition>
    <p:randomBa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Weryfikacja modelu symulacyjnego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b="1" dirty="0"/>
              <a:t>Weryfikacja</a:t>
            </a:r>
            <a:r>
              <a:rPr lang="pl-PL" dirty="0"/>
              <a:t> jest procesem upewnienia się, że specyfikacja modelu (model matematyczny) została przekształcona w modelu symulacyjny (program komputerowy) z wystarczającą dokładnością (Davis, 1992). </a:t>
            </a:r>
          </a:p>
        </p:txBody>
      </p:sp>
    </p:spTree>
    <p:extLst>
      <p:ext uri="{BB962C8B-B14F-4D97-AF65-F5344CB8AC3E}">
        <p14:creationId xmlns:p14="http://schemas.microsoft.com/office/powerpoint/2010/main" val="1417134754"/>
      </p:ext>
    </p:extLst>
  </p:cSld>
  <p:clrMapOvr>
    <a:masterClrMapping/>
  </p:clrMapOvr>
  <p:transition>
    <p:randomBa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Metody weryfikacji modelu symulacyjnego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l-PL" dirty="0"/>
              <a:t>Dobre techniki programistyczne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Sprawdzanie wyników pośrednich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Porównywanie wyników symulacji z wynikami analitycznymi 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Animacja</a:t>
            </a:r>
          </a:p>
        </p:txBody>
      </p:sp>
    </p:spTree>
    <p:extLst>
      <p:ext uri="{BB962C8B-B14F-4D97-AF65-F5344CB8AC3E}">
        <p14:creationId xmlns:p14="http://schemas.microsoft.com/office/powerpoint/2010/main" val="1524111002"/>
      </p:ext>
    </p:extLst>
  </p:cSld>
  <p:clrMapOvr>
    <a:masterClrMapping/>
  </p:clrMapOvr>
  <p:transition>
    <p:randomBa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Walidacja modelu symulacyjnego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b="1" dirty="0"/>
              <a:t>Walidacja</a:t>
            </a:r>
            <a:r>
              <a:rPr lang="pl-PL" dirty="0"/>
              <a:t> jest procesem, na upewnienia się, że model jest </a:t>
            </a:r>
            <a:r>
              <a:rPr lang="pl-PL" b="1" dirty="0"/>
              <a:t>wystarczająco dokładn</a:t>
            </a:r>
            <a:r>
              <a:rPr lang="pl-PL" dirty="0"/>
              <a:t>y dla wskazanych celów (Carson, 1986); </a:t>
            </a:r>
          </a:p>
          <a:p>
            <a:r>
              <a:rPr lang="pl-PL" dirty="0"/>
              <a:t>Walidacja pozwala na sprawdzenie czy budujemy odpowiedni model. </a:t>
            </a:r>
          </a:p>
        </p:txBody>
      </p:sp>
    </p:spTree>
    <p:extLst>
      <p:ext uri="{BB962C8B-B14F-4D97-AF65-F5344CB8AC3E}">
        <p14:creationId xmlns:p14="http://schemas.microsoft.com/office/powerpoint/2010/main" val="596774673"/>
      </p:ext>
    </p:extLst>
  </p:cSld>
  <p:clrMapOvr>
    <a:masterClrMapping/>
  </p:clrMapOvr>
  <p:transition>
    <p:randomBa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Trudności z walidacją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l-PL" dirty="0"/>
              <a:t>nie ma uniwersalnego procesu walidacji danego modelu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rzeczywisty obiekt może jeszcze nie istnieć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rzeczywisty obiekt może być poznawany tylko subiektywnie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dane pozyskane do walidacji mogą być niedokładne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brak czasu</a:t>
            </a:r>
          </a:p>
          <a:p>
            <a:pPr marL="514350" indent="-514350">
              <a:buFont typeface="+mj-lt"/>
              <a:buAutoNum type="arabicPeriod"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69977029"/>
      </p:ext>
    </p:extLst>
  </p:cSld>
  <p:clrMapOvr>
    <a:masterClrMapping/>
  </p:clrMapOvr>
  <p:transition>
    <p:randomBa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Dane potrzebne do walidacji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pl-PL" sz="2800" dirty="0"/>
              <a:t>Zmierzone wartości wielkości wejściowych (dla rzeczywistego obiektu)</a:t>
            </a:r>
          </a:p>
          <a:p>
            <a:pPr>
              <a:buFontTx/>
              <a:buChar char="-"/>
            </a:pPr>
            <a:r>
              <a:rPr lang="pl-PL" sz="2800" dirty="0"/>
              <a:t>Zmierzone odpowiadające im wartości wielkości wyjściowych</a:t>
            </a:r>
          </a:p>
          <a:p>
            <a:pPr marL="0" indent="0">
              <a:buNone/>
            </a:pPr>
            <a:r>
              <a:rPr lang="pl-PL" sz="2800" dirty="0"/>
              <a:t>Problemy przy pozyskiwaniu danych:</a:t>
            </a:r>
          </a:p>
          <a:p>
            <a:pPr marL="514350" indent="-514350">
              <a:buAutoNum type="arabicPeriod"/>
            </a:pPr>
            <a:r>
              <a:rPr lang="pl-PL" sz="2800" dirty="0"/>
              <a:t>Brak danych</a:t>
            </a:r>
          </a:p>
          <a:p>
            <a:pPr marL="514350" indent="-514350">
              <a:buAutoNum type="arabicPeriod"/>
            </a:pPr>
            <a:r>
              <a:rPr lang="pl-PL" sz="2800" dirty="0"/>
              <a:t>Mała ilość danych (specyficzne dane)</a:t>
            </a:r>
          </a:p>
          <a:p>
            <a:pPr marL="514350" indent="-514350">
              <a:buAutoNum type="arabicPeriod"/>
            </a:pPr>
            <a:r>
              <a:rPr lang="pl-PL" sz="2800" dirty="0"/>
              <a:t>Dane z testów w terenie</a:t>
            </a:r>
          </a:p>
          <a:p>
            <a:pPr marL="514350" indent="-514350">
              <a:buAutoNum type="arabicPeriod"/>
            </a:pPr>
            <a:r>
              <a:rPr lang="pl-PL" sz="2800" dirty="0"/>
              <a:t>Nadmiar danych</a:t>
            </a:r>
          </a:p>
          <a:p>
            <a:pPr marL="514350" indent="-514350">
              <a:buAutoNum type="arabicPeriod"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51768451"/>
      </p:ext>
    </p:extLst>
  </p:cSld>
  <p:clrMapOvr>
    <a:masterClrMapping/>
  </p:clrMapOvr>
  <p:transition>
    <p:randomBa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Metody walidacji modelu symulacyjnego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l-PL" sz="2800" dirty="0"/>
              <a:t>Techniki porównania wyjścia z symulatora z wyjściem z obiektu (dla rzeczywistych danych):</a:t>
            </a:r>
          </a:p>
          <a:p>
            <a:pPr marL="914400" lvl="1" indent="-514350"/>
            <a:r>
              <a:rPr lang="pl-PL" sz="2400" dirty="0"/>
              <a:t>porównanie wykresów zmienności parametrów (dla rzeczywistego obiektu i dla symulatora)</a:t>
            </a:r>
          </a:p>
          <a:p>
            <a:pPr marL="914400" lvl="1" indent="-514350"/>
            <a:r>
              <a:rPr lang="pl-PL" sz="2400" dirty="0"/>
              <a:t>test </a:t>
            </a:r>
            <a:r>
              <a:rPr lang="pl-PL" sz="2400" dirty="0" err="1"/>
              <a:t>Schrubena</a:t>
            </a:r>
            <a:r>
              <a:rPr lang="pl-PL" sz="2400" dirty="0"/>
              <a:t>-Turinga</a:t>
            </a:r>
          </a:p>
          <a:p>
            <a:pPr marL="914400" lvl="1" indent="-514350"/>
            <a:r>
              <a:rPr lang="pl-PL" sz="2400" dirty="0"/>
              <a:t>testy statystyczne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2800" dirty="0"/>
              <a:t>Metody przeprowadzania walidacji:</a:t>
            </a:r>
          </a:p>
          <a:p>
            <a:pPr marL="914400" lvl="1" indent="-514350"/>
            <a:r>
              <a:rPr lang="pl-PL" sz="2400" dirty="0"/>
              <a:t>„</a:t>
            </a:r>
            <a:r>
              <a:rPr lang="pl-PL" sz="2400" dirty="0" err="1"/>
              <a:t>black-box</a:t>
            </a:r>
            <a:r>
              <a:rPr lang="pl-PL" sz="2400" dirty="0"/>
              <a:t>”</a:t>
            </a:r>
          </a:p>
          <a:p>
            <a:pPr marL="914400" lvl="1" indent="-514350"/>
            <a:r>
              <a:rPr lang="pl-PL" sz="2400" dirty="0"/>
              <a:t>„</a:t>
            </a:r>
            <a:r>
              <a:rPr lang="pl-PL" sz="2400" dirty="0" err="1"/>
              <a:t>white-box</a:t>
            </a:r>
            <a:r>
              <a:rPr lang="pl-PL" sz="2400" dirty="0"/>
              <a:t>”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2800" dirty="0"/>
              <a:t>Test wrażliwości</a:t>
            </a:r>
          </a:p>
          <a:p>
            <a:pPr marL="514350" indent="-514350">
              <a:buFont typeface="+mj-lt"/>
              <a:buAutoNum type="arabicPeriod"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970792283"/>
      </p:ext>
    </p:extLst>
  </p:cSld>
  <p:clrMapOvr>
    <a:masterClrMapping/>
  </p:clrMapOvr>
  <p:transition>
    <p:randomBa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Literatura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sz="2000" dirty="0"/>
              <a:t>[1] Robinson, Stewart. "</a:t>
            </a:r>
            <a:r>
              <a:rPr lang="pl-PL" sz="2000" dirty="0" err="1"/>
              <a:t>Simulation</a:t>
            </a:r>
            <a:r>
              <a:rPr lang="pl-PL" sz="2000" dirty="0"/>
              <a:t> model </a:t>
            </a:r>
            <a:r>
              <a:rPr lang="pl-PL" sz="2000" dirty="0" err="1"/>
              <a:t>verification</a:t>
            </a:r>
            <a:r>
              <a:rPr lang="pl-PL" sz="2000" dirty="0"/>
              <a:t> and </a:t>
            </a:r>
            <a:r>
              <a:rPr lang="pl-PL" sz="2000" dirty="0" err="1"/>
              <a:t>validation</a:t>
            </a:r>
            <a:r>
              <a:rPr lang="pl-PL" sz="2000" dirty="0"/>
              <a:t>: </a:t>
            </a:r>
            <a:r>
              <a:rPr lang="pl-PL" sz="2000" dirty="0" err="1"/>
              <a:t>increasing</a:t>
            </a:r>
            <a:r>
              <a:rPr lang="pl-PL" sz="2000" dirty="0"/>
              <a:t> the </a:t>
            </a:r>
            <a:r>
              <a:rPr lang="pl-PL" sz="2000" dirty="0" err="1"/>
              <a:t>users</a:t>
            </a:r>
            <a:r>
              <a:rPr lang="pl-PL" sz="2000" dirty="0"/>
              <a:t>' </a:t>
            </a:r>
            <a:r>
              <a:rPr lang="pl-PL" sz="2000" dirty="0" err="1"/>
              <a:t>confidence</a:t>
            </a:r>
            <a:r>
              <a:rPr lang="pl-PL" sz="2000" dirty="0"/>
              <a:t>." </a:t>
            </a:r>
            <a:r>
              <a:rPr lang="pl-PL" sz="2000" dirty="0" err="1"/>
              <a:t>Proceedings</a:t>
            </a:r>
            <a:r>
              <a:rPr lang="pl-PL" sz="2000" dirty="0"/>
              <a:t> of the 29th </a:t>
            </a:r>
            <a:r>
              <a:rPr lang="pl-PL" sz="2000" dirty="0" err="1"/>
              <a:t>conference</a:t>
            </a:r>
            <a:r>
              <a:rPr lang="pl-PL" sz="2000" dirty="0"/>
              <a:t> on Winter </a:t>
            </a:r>
            <a:r>
              <a:rPr lang="pl-PL" sz="2000" dirty="0" err="1"/>
              <a:t>simulation</a:t>
            </a:r>
            <a:r>
              <a:rPr lang="pl-PL" sz="2000" dirty="0"/>
              <a:t>. IEEE </a:t>
            </a:r>
            <a:r>
              <a:rPr lang="pl-PL" sz="2000" dirty="0" err="1"/>
              <a:t>Computer</a:t>
            </a:r>
            <a:r>
              <a:rPr lang="pl-PL" sz="2000" dirty="0"/>
              <a:t> </a:t>
            </a:r>
            <a:r>
              <a:rPr lang="pl-PL" sz="2000" dirty="0" err="1"/>
              <a:t>Society</a:t>
            </a:r>
            <a:r>
              <a:rPr lang="pl-PL" sz="2000" dirty="0"/>
              <a:t>, 1997.</a:t>
            </a:r>
          </a:p>
          <a:p>
            <a:pPr marL="0" indent="0">
              <a:buNone/>
            </a:pPr>
            <a:r>
              <a:rPr lang="pl-PL" sz="2000" dirty="0"/>
              <a:t>[2] </a:t>
            </a:r>
            <a:r>
              <a:rPr lang="pl-PL" sz="2000" dirty="0" err="1"/>
              <a:t>Whitner</a:t>
            </a:r>
            <a:r>
              <a:rPr lang="pl-PL" sz="2000" dirty="0"/>
              <a:t>, Richard B., and Osman </a:t>
            </a:r>
            <a:r>
              <a:rPr lang="pl-PL" sz="2000" dirty="0" err="1"/>
              <a:t>Balci</a:t>
            </a:r>
            <a:r>
              <a:rPr lang="pl-PL" sz="2000" dirty="0"/>
              <a:t>. "</a:t>
            </a:r>
            <a:r>
              <a:rPr lang="pl-PL" sz="2000" dirty="0" err="1"/>
              <a:t>Guidelines</a:t>
            </a:r>
            <a:r>
              <a:rPr lang="pl-PL" sz="2000" dirty="0"/>
              <a:t> for </a:t>
            </a:r>
            <a:r>
              <a:rPr lang="pl-PL" sz="2000" dirty="0" err="1"/>
              <a:t>selecting</a:t>
            </a:r>
            <a:r>
              <a:rPr lang="pl-PL" sz="2000" dirty="0"/>
              <a:t> and </a:t>
            </a:r>
            <a:r>
              <a:rPr lang="pl-PL" sz="2000" dirty="0" err="1"/>
              <a:t>using</a:t>
            </a:r>
            <a:r>
              <a:rPr lang="pl-PL" sz="2000" dirty="0"/>
              <a:t> </a:t>
            </a:r>
            <a:r>
              <a:rPr lang="pl-PL" sz="2000" dirty="0" err="1"/>
              <a:t>simulation</a:t>
            </a:r>
            <a:r>
              <a:rPr lang="pl-PL" sz="2000" dirty="0"/>
              <a:t> model </a:t>
            </a:r>
            <a:r>
              <a:rPr lang="pl-PL" sz="2000" dirty="0" err="1"/>
              <a:t>verification</a:t>
            </a:r>
            <a:r>
              <a:rPr lang="pl-PL" sz="2000" dirty="0"/>
              <a:t> </a:t>
            </a:r>
            <a:r>
              <a:rPr lang="pl-PL" sz="2000" dirty="0" err="1"/>
              <a:t>techniques</a:t>
            </a:r>
            <a:r>
              <a:rPr lang="pl-PL" sz="2000" dirty="0"/>
              <a:t>." </a:t>
            </a:r>
            <a:r>
              <a:rPr lang="pl-PL" sz="2000" i="1" dirty="0" err="1"/>
              <a:t>Proceedings</a:t>
            </a:r>
            <a:r>
              <a:rPr lang="pl-PL" sz="2000" i="1" dirty="0"/>
              <a:t> of the 21st </a:t>
            </a:r>
            <a:r>
              <a:rPr lang="pl-PL" sz="2000" i="1" dirty="0" err="1"/>
              <a:t>conference</a:t>
            </a:r>
            <a:r>
              <a:rPr lang="pl-PL" sz="2000" i="1" dirty="0"/>
              <a:t> on Winter </a:t>
            </a:r>
            <a:r>
              <a:rPr lang="pl-PL" sz="2000" i="1" dirty="0" err="1"/>
              <a:t>simulation</a:t>
            </a:r>
            <a:r>
              <a:rPr lang="pl-PL" sz="2000" dirty="0"/>
              <a:t>. ACM, 1989.</a:t>
            </a:r>
          </a:p>
          <a:p>
            <a:pPr marL="0" indent="0">
              <a:buNone/>
            </a:pPr>
            <a:r>
              <a:rPr lang="pl-PL" sz="2000" dirty="0"/>
              <a:t>[3] </a:t>
            </a:r>
            <a:r>
              <a:rPr lang="pl-PL" sz="2000" dirty="0" err="1"/>
              <a:t>Kelton</a:t>
            </a:r>
            <a:r>
              <a:rPr lang="pl-PL" sz="2000" dirty="0"/>
              <a:t>, W. David, and </a:t>
            </a:r>
            <a:r>
              <a:rPr lang="pl-PL" sz="2000" dirty="0" err="1"/>
              <a:t>Averill</a:t>
            </a:r>
            <a:r>
              <a:rPr lang="pl-PL" sz="2000" dirty="0"/>
              <a:t> M. Law. </a:t>
            </a:r>
            <a:r>
              <a:rPr lang="pl-PL" sz="2000" i="1" dirty="0" err="1"/>
              <a:t>Simulation</a:t>
            </a:r>
            <a:r>
              <a:rPr lang="pl-PL" sz="2000" i="1" dirty="0"/>
              <a:t> </a:t>
            </a:r>
            <a:r>
              <a:rPr lang="pl-PL" sz="2000" i="1" dirty="0" err="1"/>
              <a:t>modeling</a:t>
            </a:r>
            <a:r>
              <a:rPr lang="pl-PL" sz="2000" i="1" dirty="0"/>
              <a:t> and </a:t>
            </a:r>
            <a:r>
              <a:rPr lang="pl-PL" sz="2000" i="1" dirty="0" err="1"/>
              <a:t>analysis</a:t>
            </a:r>
            <a:r>
              <a:rPr lang="pl-PL" sz="2000" dirty="0"/>
              <a:t>. Boston: </a:t>
            </a:r>
            <a:r>
              <a:rPr lang="pl-PL" sz="2000" dirty="0" err="1"/>
              <a:t>McGraw</a:t>
            </a:r>
            <a:r>
              <a:rPr lang="pl-PL" sz="2000" dirty="0"/>
              <a:t> Hill, 2000.</a:t>
            </a:r>
          </a:p>
          <a:p>
            <a:pPr marL="0" indent="0">
              <a:buNone/>
            </a:pPr>
            <a:r>
              <a:rPr lang="pl-PL" sz="2000" dirty="0"/>
              <a:t>[4] </a:t>
            </a:r>
            <a:r>
              <a:rPr lang="pl-PL" sz="2000" dirty="0" err="1"/>
              <a:t>Sargent</a:t>
            </a:r>
            <a:r>
              <a:rPr lang="pl-PL" sz="2000" dirty="0"/>
              <a:t>, Robert G. "</a:t>
            </a:r>
            <a:r>
              <a:rPr lang="pl-PL" sz="2000" dirty="0" err="1"/>
              <a:t>Verification</a:t>
            </a:r>
            <a:r>
              <a:rPr lang="pl-PL" sz="2000" dirty="0"/>
              <a:t> and </a:t>
            </a:r>
            <a:r>
              <a:rPr lang="pl-PL" sz="2000" dirty="0" err="1"/>
              <a:t>validation</a:t>
            </a:r>
            <a:r>
              <a:rPr lang="pl-PL" sz="2000" dirty="0"/>
              <a:t> of </a:t>
            </a:r>
            <a:r>
              <a:rPr lang="pl-PL" sz="2000" dirty="0" err="1"/>
              <a:t>simulation</a:t>
            </a:r>
            <a:r>
              <a:rPr lang="pl-PL" sz="2000" dirty="0"/>
              <a:t> </a:t>
            </a:r>
            <a:r>
              <a:rPr lang="pl-PL" sz="2000" dirty="0" err="1"/>
              <a:t>models</a:t>
            </a:r>
            <a:r>
              <a:rPr lang="pl-PL" sz="2000" dirty="0"/>
              <a:t>." </a:t>
            </a:r>
            <a:r>
              <a:rPr lang="pl-PL" sz="2000" i="1" dirty="0" err="1"/>
              <a:t>Proceedings</a:t>
            </a:r>
            <a:r>
              <a:rPr lang="pl-PL" sz="2000" i="1" dirty="0"/>
              <a:t> of the 37th </a:t>
            </a:r>
            <a:r>
              <a:rPr lang="pl-PL" sz="2000" i="1" dirty="0" err="1"/>
              <a:t>conference</a:t>
            </a:r>
            <a:r>
              <a:rPr lang="pl-PL" sz="2000" i="1" dirty="0"/>
              <a:t> on Winter </a:t>
            </a:r>
            <a:r>
              <a:rPr lang="pl-PL" sz="2000" i="1" dirty="0" err="1"/>
              <a:t>simulation</a:t>
            </a:r>
            <a:r>
              <a:rPr lang="pl-PL" sz="2000" dirty="0"/>
              <a:t>. </a:t>
            </a:r>
            <a:r>
              <a:rPr lang="pl-PL" sz="2000" dirty="0" err="1"/>
              <a:t>winter</a:t>
            </a:r>
            <a:r>
              <a:rPr lang="pl-PL" sz="2000" dirty="0"/>
              <a:t> </a:t>
            </a:r>
            <a:r>
              <a:rPr lang="pl-PL" sz="2000" dirty="0" err="1"/>
              <a:t>simulation</a:t>
            </a:r>
            <a:r>
              <a:rPr lang="pl-PL" sz="2000" dirty="0"/>
              <a:t> </a:t>
            </a:r>
            <a:r>
              <a:rPr lang="pl-PL" sz="2000" dirty="0" err="1"/>
              <a:t>conference</a:t>
            </a:r>
            <a:r>
              <a:rPr lang="pl-PL" sz="2000" dirty="0"/>
              <a:t>, 2005.</a:t>
            </a:r>
          </a:p>
          <a:p>
            <a:pPr marL="0" indent="0">
              <a:buNone/>
            </a:pPr>
            <a:r>
              <a:rPr lang="pl-PL" sz="2000" dirty="0"/>
              <a:t>[5] </a:t>
            </a:r>
            <a:r>
              <a:rPr lang="pl-PL" sz="2000" dirty="0" err="1"/>
              <a:t>Kleijnen</a:t>
            </a:r>
            <a:r>
              <a:rPr lang="pl-PL" sz="2000" dirty="0"/>
              <a:t>, Jack PC. "</a:t>
            </a:r>
            <a:r>
              <a:rPr lang="pl-PL" sz="2000" dirty="0" err="1"/>
              <a:t>Verification</a:t>
            </a:r>
            <a:r>
              <a:rPr lang="pl-PL" sz="2000" dirty="0"/>
              <a:t> and </a:t>
            </a:r>
            <a:r>
              <a:rPr lang="pl-PL" sz="2000" dirty="0" err="1"/>
              <a:t>validation</a:t>
            </a:r>
            <a:r>
              <a:rPr lang="pl-PL" sz="2000" dirty="0"/>
              <a:t> of </a:t>
            </a:r>
            <a:r>
              <a:rPr lang="pl-PL" sz="2000" dirty="0" err="1"/>
              <a:t>simulation</a:t>
            </a:r>
            <a:r>
              <a:rPr lang="pl-PL" sz="2000" dirty="0"/>
              <a:t> </a:t>
            </a:r>
            <a:r>
              <a:rPr lang="pl-PL" sz="2000" dirty="0" err="1"/>
              <a:t>models</a:t>
            </a:r>
            <a:r>
              <a:rPr lang="pl-PL" sz="2000" dirty="0"/>
              <a:t>." </a:t>
            </a:r>
            <a:r>
              <a:rPr lang="pl-PL" sz="2000" i="1" dirty="0" err="1"/>
              <a:t>European</a:t>
            </a:r>
            <a:r>
              <a:rPr lang="pl-PL" sz="2000" i="1" dirty="0"/>
              <a:t> </a:t>
            </a:r>
            <a:r>
              <a:rPr lang="pl-PL" sz="2000" i="1" dirty="0" err="1"/>
              <a:t>Journal</a:t>
            </a:r>
            <a:r>
              <a:rPr lang="pl-PL" sz="2000" i="1" dirty="0"/>
              <a:t> of </a:t>
            </a:r>
            <a:r>
              <a:rPr lang="pl-PL" sz="2000" i="1" dirty="0" err="1"/>
              <a:t>Operational</a:t>
            </a:r>
            <a:r>
              <a:rPr lang="pl-PL" sz="2000" i="1" dirty="0"/>
              <a:t> </a:t>
            </a:r>
            <a:r>
              <a:rPr lang="pl-PL" sz="2000" i="1" dirty="0" err="1"/>
              <a:t>Research</a:t>
            </a:r>
            <a:r>
              <a:rPr lang="pl-PL" sz="2000" dirty="0"/>
              <a:t> 82.1 (1995): 145-162.</a:t>
            </a:r>
          </a:p>
        </p:txBody>
      </p:sp>
    </p:spTree>
    <p:extLst>
      <p:ext uri="{BB962C8B-B14F-4D97-AF65-F5344CB8AC3E}">
        <p14:creationId xmlns:p14="http://schemas.microsoft.com/office/powerpoint/2010/main" val="207107182"/>
      </p:ext>
    </p:extLst>
  </p:cSld>
  <p:clrMapOvr>
    <a:masterClrMapping/>
  </p:clrMapOvr>
  <p:transition>
    <p:randomBa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Dziękuję za uwagę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88530982"/>
      </p:ext>
    </p:extLst>
  </p:cSld>
  <p:clrMapOvr>
    <a:masterClrMapping/>
  </p:clrMapOvr>
  <p:transition>
    <p:randomBar/>
  </p:transition>
</p:sld>
</file>

<file path=ppt/theme/theme1.xml><?xml version="1.0" encoding="utf-8"?>
<a:theme xmlns:a="http://schemas.openxmlformats.org/drawingml/2006/main" name="1_Projekt domyślny">
  <a:themeElements>
    <a:clrScheme name="1_Projekt domyślny 1">
      <a:dk1>
        <a:srgbClr val="000000"/>
      </a:dk1>
      <a:lt1>
        <a:srgbClr val="FFFFFF"/>
      </a:lt1>
      <a:dk2>
        <a:srgbClr val="FFEBD5"/>
      </a:dk2>
      <a:lt2>
        <a:srgbClr val="78120A"/>
      </a:lt2>
      <a:accent1>
        <a:srgbClr val="E32213"/>
      </a:accent1>
      <a:accent2>
        <a:srgbClr val="FFD3A1"/>
      </a:accent2>
      <a:accent3>
        <a:srgbClr val="FFFFFF"/>
      </a:accent3>
      <a:accent4>
        <a:srgbClr val="000000"/>
      </a:accent4>
      <a:accent5>
        <a:srgbClr val="EFABAA"/>
      </a:accent5>
      <a:accent6>
        <a:srgbClr val="E7BF91"/>
      </a:accent6>
      <a:hlink>
        <a:srgbClr val="FFD9AF"/>
      </a:hlink>
      <a:folHlink>
        <a:srgbClr val="FFB25D"/>
      </a:folHlink>
    </a:clrScheme>
    <a:fontScheme name="1_Projekt domyślny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Projekt domyślny 1">
        <a:dk1>
          <a:srgbClr val="000000"/>
        </a:dk1>
        <a:lt1>
          <a:srgbClr val="FFFFFF"/>
        </a:lt1>
        <a:dk2>
          <a:srgbClr val="FFEBD5"/>
        </a:dk2>
        <a:lt2>
          <a:srgbClr val="78120A"/>
        </a:lt2>
        <a:accent1>
          <a:srgbClr val="E32213"/>
        </a:accent1>
        <a:accent2>
          <a:srgbClr val="FFD3A1"/>
        </a:accent2>
        <a:accent3>
          <a:srgbClr val="FFFFFF"/>
        </a:accent3>
        <a:accent4>
          <a:srgbClr val="000000"/>
        </a:accent4>
        <a:accent5>
          <a:srgbClr val="EFABAA"/>
        </a:accent5>
        <a:accent6>
          <a:srgbClr val="E7BF91"/>
        </a:accent6>
        <a:hlink>
          <a:srgbClr val="FFD9AF"/>
        </a:hlink>
        <a:folHlink>
          <a:srgbClr val="FFB25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wyklad1" id="{551E832A-925F-ED41-939C-D4BE2247C2B8}" vid="{39290E1C-1DF4-F940-ACC4-CD4362D23FDA}"/>
    </a:ext>
  </a:extLst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A2E251144B404EA9E598855E9A21C4" ma:contentTypeVersion="3" ma:contentTypeDescription="Create a new document." ma:contentTypeScope="" ma:versionID="20ec12cadefbb9e34b75aa3b0873a730">
  <xsd:schema xmlns:xsd="http://www.w3.org/2001/XMLSchema" xmlns:xs="http://www.w3.org/2001/XMLSchema" xmlns:p="http://schemas.microsoft.com/office/2006/metadata/properties" xmlns:ns2="e4e4be2c-45ae-4625-bc62-f1f615e37b29" targetNamespace="http://schemas.microsoft.com/office/2006/metadata/properties" ma:root="true" ma:fieldsID="a2cb082af39dbafedbc0e792953a71dc" ns2:_="">
    <xsd:import namespace="e4e4be2c-45ae-4625-bc62-f1f615e37b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e4be2c-45ae-4625-bc62-f1f615e37b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C7E9B1C-06DA-4ED4-98B6-64BD1AA99250}"/>
</file>

<file path=customXml/itemProps2.xml><?xml version="1.0" encoding="utf-8"?>
<ds:datastoreItem xmlns:ds="http://schemas.openxmlformats.org/officeDocument/2006/customXml" ds:itemID="{090D61FA-E806-4E75-9325-8933CA8A573B}"/>
</file>

<file path=customXml/itemProps3.xml><?xml version="1.0" encoding="utf-8"?>
<ds:datastoreItem xmlns:ds="http://schemas.openxmlformats.org/officeDocument/2006/customXml" ds:itemID="{A019B755-9A69-4FA3-B4A3-E0D40AD99081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383</TotalTime>
  <Words>1105</Words>
  <Application>Microsoft Macintosh PowerPoint</Application>
  <PresentationFormat>Pokaz na ekranie (4:3)</PresentationFormat>
  <Paragraphs>93</Paragraphs>
  <Slides>12</Slides>
  <Notes>8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6" baseType="lpstr">
      <vt:lpstr>Arial</vt:lpstr>
      <vt:lpstr>Calibri</vt:lpstr>
      <vt:lpstr>Trebuchet MS</vt:lpstr>
      <vt:lpstr>1_Projekt domyślny</vt:lpstr>
      <vt:lpstr>Symulacja Komputerowa Wykład 7: Modele symulacyjne Weryfikacja i walidacja</vt:lpstr>
      <vt:lpstr>Model symulacyjny</vt:lpstr>
      <vt:lpstr>Etapy tworzenia modeli symulacyjnych</vt:lpstr>
      <vt:lpstr>Weryfikacja i walidacja modelu</vt:lpstr>
      <vt:lpstr>Weryfikacja modelu symulacyjnego</vt:lpstr>
      <vt:lpstr>Metody weryfikacji modelu symulacyjnego</vt:lpstr>
      <vt:lpstr>Walidacja modelu symulacyjnego</vt:lpstr>
      <vt:lpstr>Trudności z walidacją</vt:lpstr>
      <vt:lpstr>Dane potrzebne do walidacji</vt:lpstr>
      <vt:lpstr>Metody walidacji modelu symulacyjnego</vt:lpstr>
      <vt:lpstr>Literatura</vt:lpstr>
      <vt:lpstr>Dziękuję za uwagę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Symulacja Komputerowa Wykład 1</dc:title>
  <dc:creator>Dariusz Gasior</dc:creator>
  <cp:lastModifiedBy>Dariusz Gąsior</cp:lastModifiedBy>
  <cp:revision>69</cp:revision>
  <dcterms:created xsi:type="dcterms:W3CDTF">2015-10-06T14:07:00Z</dcterms:created>
  <dcterms:modified xsi:type="dcterms:W3CDTF">2025-12-11T19:24:52Z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0x0101003AA2E251144B404EA9E598855E9A21C4</vt:lpwstr>
  </property>
</Properties>
</file>