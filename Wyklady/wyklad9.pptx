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5"/>
    <p:restoredTop sz="82411"/>
  </p:normalViewPr>
  <p:slideViewPr>
    <p:cSldViewPr snapToObjects="1">
      <p:cViewPr>
        <p:scale>
          <a:sx n="85" d="100"/>
          <a:sy n="85" d="100"/>
        </p:scale>
        <p:origin x="136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8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1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25D14-7191-7A41-B01F-011AA8CB6093}" type="datetimeFigureOut">
              <a:rPr lang="pl-PL" smtClean="0"/>
              <a:t>08.12.2015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27150" y="1085850"/>
            <a:ext cx="390842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79888"/>
            <a:ext cx="5251450" cy="34210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D38DD-8B54-8045-AAB4-F8395B7CE60E}" type="slidenum">
              <a:rPr lang="pl-PL" smtClean="0"/>
              <a:t>‹nr›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772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dirty="0" smtClean="0"/>
              <a:t>X – </a:t>
            </a:r>
          </a:p>
          <a:p>
            <a:r>
              <a:rPr lang="pl-PL" sz="1200" dirty="0" smtClean="0"/>
              <a:t>Y - </a:t>
            </a:r>
          </a:p>
          <a:p>
            <a:r>
              <a:rPr lang="pl-PL" sz="1200" dirty="0" smtClean="0"/>
              <a:t>C – wielkości, </a:t>
            </a:r>
            <a:r>
              <a:rPr lang="pl-PL" sz="1200" dirty="0" err="1" smtClean="0"/>
              <a:t>które</a:t>
            </a:r>
            <a:r>
              <a:rPr lang="pl-PL" sz="1200" dirty="0" smtClean="0"/>
              <a:t> mają wpływ na działanie układu, ale ich </a:t>
            </a:r>
            <a:r>
              <a:rPr lang="pl-PL" sz="1200" dirty="0" err="1" smtClean="0"/>
              <a:t>wartości</a:t>
            </a:r>
            <a:r>
              <a:rPr lang="pl-PL" sz="1200" dirty="0" smtClean="0"/>
              <a:t> </a:t>
            </a:r>
            <a:r>
              <a:rPr lang="pl-PL" sz="1200" dirty="0" err="1" smtClean="0"/>
              <a:t>sa</a:t>
            </a:r>
            <a:r>
              <a:rPr lang="pl-PL" sz="1200" dirty="0" smtClean="0"/>
              <a:t>̨ ustalone i niezmienne w czasie, przez co </a:t>
            </a:r>
            <a:r>
              <a:rPr lang="pl-PL" sz="1200" dirty="0" err="1" smtClean="0"/>
              <a:t>moga</a:t>
            </a:r>
            <a:r>
              <a:rPr lang="pl-PL" sz="1200" dirty="0" smtClean="0"/>
              <a:t>̨ </a:t>
            </a:r>
            <a:r>
              <a:rPr lang="pl-PL" sz="1200" dirty="0" err="1" smtClean="0"/>
              <a:t>zostac</a:t>
            </a:r>
            <a:r>
              <a:rPr lang="pl-PL" sz="1200" dirty="0" smtClean="0"/>
              <a:t>́ </a:t>
            </a:r>
            <a:r>
              <a:rPr lang="pl-PL" sz="1200" dirty="0" err="1" smtClean="0"/>
              <a:t>pominięte</a:t>
            </a:r>
            <a:r>
              <a:rPr lang="pl-PL" sz="1200" dirty="0" smtClean="0"/>
              <a:t> w analizie statystycznej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dirty="0" smtClean="0"/>
              <a:t>Z – wielkości,</a:t>
            </a:r>
            <a:r>
              <a:rPr lang="pl-PL" sz="1200" baseline="0" dirty="0" smtClean="0"/>
              <a:t> </a:t>
            </a:r>
            <a:r>
              <a:rPr lang="pl-PL" sz="1200" dirty="0" err="1" smtClean="0"/>
              <a:t>których</a:t>
            </a:r>
            <a:r>
              <a:rPr lang="pl-PL" sz="1200" dirty="0" smtClean="0"/>
              <a:t> istnienie spowodowane jest oddziaływaniem losowych </a:t>
            </a:r>
            <a:r>
              <a:rPr lang="pl-PL" sz="1200" dirty="0" err="1" smtClean="0"/>
              <a:t>czynników</a:t>
            </a:r>
            <a:r>
              <a:rPr lang="pl-PL" sz="1200" dirty="0" smtClean="0"/>
              <a:t> w obiekcie badań na </a:t>
            </a:r>
            <a:r>
              <a:rPr lang="pl-PL" sz="1200" dirty="0" err="1" smtClean="0"/>
              <a:t>wielkości</a:t>
            </a:r>
            <a:r>
              <a:rPr lang="pl-PL" sz="1200" dirty="0" smtClean="0"/>
              <a:t> </a:t>
            </a:r>
            <a:r>
              <a:rPr lang="pl-PL" sz="1200" dirty="0" err="1" smtClean="0"/>
              <a:t>wyjściowe</a:t>
            </a:r>
            <a:r>
              <a:rPr lang="pl-PL" sz="1200" dirty="0" smtClean="0"/>
              <a:t> oraz </a:t>
            </a:r>
            <a:r>
              <a:rPr lang="pl-PL" sz="1200" dirty="0" err="1" smtClean="0"/>
              <a:t>niedoskonałościami</a:t>
            </a:r>
            <a:r>
              <a:rPr lang="pl-PL" sz="1200" dirty="0" smtClean="0"/>
              <a:t> metod i </a:t>
            </a:r>
            <a:r>
              <a:rPr lang="pl-PL" sz="1200" dirty="0" err="1" smtClean="0"/>
              <a:t>środków</a:t>
            </a:r>
            <a:r>
              <a:rPr lang="pl-PL" sz="1200" dirty="0" smtClean="0"/>
              <a:t> pomiarowych.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691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Przykład:</a:t>
            </a:r>
          </a:p>
          <a:p>
            <a:pPr marL="171450" indent="-171450">
              <a:buFontTx/>
              <a:buChar char="-"/>
            </a:pPr>
            <a:r>
              <a:rPr lang="pl-PL" dirty="0" smtClean="0"/>
              <a:t>2 stanowiska</a:t>
            </a:r>
            <a:r>
              <a:rPr lang="pl-PL" baseline="0" dirty="0" smtClean="0"/>
              <a:t> obsługi (kasy),</a:t>
            </a:r>
          </a:p>
          <a:p>
            <a:pPr marL="171450" indent="-171450">
              <a:buFontTx/>
              <a:buChar char="-"/>
            </a:pPr>
            <a:r>
              <a:rPr lang="pl-PL" baseline="0" dirty="0" smtClean="0"/>
              <a:t>y1 – średni czas obsługi na 1. kasie, y2 – średni czas obsługi na 2. kasie </a:t>
            </a:r>
          </a:p>
          <a:p>
            <a:pPr marL="171450" indent="-171450">
              <a:buFontTx/>
              <a:buChar char="-"/>
            </a:pPr>
            <a:r>
              <a:rPr lang="pl-PL" baseline="0" dirty="0" smtClean="0"/>
              <a:t>dla jednego uruchomienia: y1 i y2 nie są niezależne</a:t>
            </a:r>
          </a:p>
          <a:p>
            <a:pPr marL="171450" indent="-171450">
              <a:buFontTx/>
              <a:buChar char="-"/>
            </a:pPr>
            <a:endParaRPr lang="pl-PL" baseline="0" dirty="0" smtClean="0"/>
          </a:p>
          <a:p>
            <a:pPr marL="171450" indent="-171450">
              <a:buFontTx/>
              <a:buChar char="-"/>
            </a:pPr>
            <a:r>
              <a:rPr lang="pl-PL" baseline="0" dirty="0" smtClean="0"/>
              <a:t>dla dwóch uruchomień:</a:t>
            </a:r>
          </a:p>
          <a:p>
            <a:pPr marL="171450" indent="-171450">
              <a:buFontTx/>
              <a:buChar char="-"/>
            </a:pPr>
            <a:r>
              <a:rPr lang="pl-PL" baseline="0" dirty="0" smtClean="0"/>
              <a:t>y11 (y1 dla pierwszego uruchomienia) oraz y12 (y1 dla drugiego uruchomienia) są niezależne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547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LcPeriod"/>
            </a:pPr>
            <a:r>
              <a:rPr lang="pl-PL" dirty="0" smtClean="0"/>
              <a:t>Np.</a:t>
            </a:r>
            <a:r>
              <a:rPr lang="pl-PL" baseline="0" dirty="0" smtClean="0"/>
              <a:t> zdarzenie kończące = „upłynęło co najmniej 12 godzin pracy sklepu i nie ma już klientów”</a:t>
            </a:r>
          </a:p>
          <a:p>
            <a:pPr marL="228600" indent="-228600">
              <a:buAutoNum type="alphaLcPeriod"/>
            </a:pPr>
            <a:r>
              <a:rPr lang="pl-PL" baseline="0" dirty="0" smtClean="0"/>
              <a:t>y1, y2, </a:t>
            </a:r>
            <a:r>
              <a:rPr lang="is-IS" baseline="0" dirty="0" smtClean="0"/>
              <a:t>… - proces stochastyczny</a:t>
            </a:r>
            <a:endParaRPr lang="pl-PL" baseline="0" dirty="0" smtClean="0"/>
          </a:p>
          <a:p>
            <a:endParaRPr lang="pl-PL" baseline="0" dirty="0" smtClean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352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4163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Niech </a:t>
            </a:r>
            <a:r>
              <a:rPr lang="pl-PL" dirty="0" err="1" smtClean="0"/>
              <a:t>Yi</a:t>
            </a:r>
            <a:r>
              <a:rPr lang="pl-PL" dirty="0" smtClean="0"/>
              <a:t> oznacza czas przebywania w systemie</a:t>
            </a:r>
            <a:r>
              <a:rPr lang="pl-PL" baseline="0" dirty="0" smtClean="0"/>
              <a:t> i-tego klienta.</a:t>
            </a:r>
          </a:p>
          <a:p>
            <a:r>
              <a:rPr lang="pl-PL" baseline="0" dirty="0" smtClean="0"/>
              <a:t>Na początku kolejka jest pusta</a:t>
            </a:r>
            <a:r>
              <a:rPr lang="is-IS" baseline="0" dirty="0" smtClean="0"/>
              <a:t>…</a:t>
            </a:r>
          </a:p>
          <a:p>
            <a:r>
              <a:rPr lang="is-IS" baseline="0" dirty="0" smtClean="0"/>
              <a:t>Stan ustalony to chwila gdy długość kolejki uzyskuje określoną długość i w kolejnych chwilach nie zmienia się ona znacząco...</a:t>
            </a:r>
          </a:p>
          <a:p>
            <a:endParaRPr lang="is-IS" baseline="0" dirty="0" smtClean="0"/>
          </a:p>
          <a:p>
            <a:r>
              <a:rPr lang="is-IS" baseline="0" dirty="0" smtClean="0"/>
              <a:t>Zatem na początku (dla pierwszych klientów) czas przebywania może być krótki (nie ma kolejki) i dopiero od pewnego momentu przestanie rosnąć.</a:t>
            </a:r>
          </a:p>
          <a:p>
            <a:endParaRPr lang="is-IS" baseline="0" dirty="0" smtClean="0"/>
          </a:p>
          <a:p>
            <a:r>
              <a:rPr lang="is-IS" baseline="0" dirty="0" smtClean="0"/>
              <a:t>Welch proponuje procedurę polegającą na analizie wykresów E(Yi) dla kolejnych i (szukanie “momentu” wypłaszczenia sie wykresu dla wielu uruchomien)</a:t>
            </a:r>
          </a:p>
          <a:p>
            <a:r>
              <a:rPr lang="is-IS" baseline="0" dirty="0" smtClean="0"/>
              <a:t>Law i Kelton wskazują również na możliwy arbitralny dobór (“inżynierski”).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990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 descr="pasek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 smtClean="0"/>
              <a:t>Kliknij, aby edytować styl wzorca tytułu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 smtClean="0"/>
              <a:t>Kliknij, aby edytować styl wzorca podtytułu</a:t>
            </a:r>
          </a:p>
        </p:txBody>
      </p:sp>
      <p:pic>
        <p:nvPicPr>
          <p:cNvPr id="35856" name="Picture 16" descr="logo pl du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974988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6972944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7771359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722157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2752030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808690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305662605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83497189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021408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pl-PL" smtClean="0"/>
              <a:t>Kliknij, aby edyt. styl wz. tyt.</a:t>
            </a:r>
            <a:endParaRPr lang="pl-PL"/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6589554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9234" name="Picture 18" descr="logo pl ma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73250" y="2130424"/>
            <a:ext cx="7089775" cy="3098775"/>
          </a:xfrm>
        </p:spPr>
        <p:txBody>
          <a:bodyPr/>
          <a:lstStyle/>
          <a:p>
            <a:r>
              <a:rPr lang="pl-PL" altLang="pl-PL" dirty="0" smtClean="0"/>
              <a:t>Symulacja Komputerowa</a:t>
            </a:r>
            <a:br>
              <a:rPr lang="pl-PL" altLang="pl-PL" dirty="0" smtClean="0"/>
            </a:br>
            <a:r>
              <a:rPr lang="pl-PL" altLang="pl-PL" dirty="0" smtClean="0"/>
              <a:t>Wykład </a:t>
            </a:r>
            <a:r>
              <a:rPr lang="pl-PL" altLang="pl-PL" dirty="0" smtClean="0"/>
              <a:t>6:</a:t>
            </a:r>
            <a:br>
              <a:rPr lang="pl-PL" altLang="pl-PL" dirty="0" smtClean="0"/>
            </a:br>
            <a:r>
              <a:rPr lang="pl-PL" altLang="pl-PL" dirty="0" smtClean="0"/>
              <a:t>Analiza wyników symulacji</a:t>
            </a:r>
            <a:endParaRPr lang="pl-PL" altLang="pl-PL" sz="3200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l-PL" altLang="pl-PL" dirty="0"/>
          </a:p>
          <a:p>
            <a:r>
              <a:rPr lang="pl-PL" altLang="pl-PL" dirty="0" smtClean="0"/>
              <a:t>Dr inż. Dariusz Gąsior</a:t>
            </a:r>
            <a:endParaRPr lang="pl-PL" altLang="pl-PL" dirty="0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 smtClean="0"/>
              <a:t>Charakterystyka obiektu badań</a:t>
            </a:r>
            <a:endParaRPr lang="pl-PL" b="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1800" dirty="0" err="1" smtClean="0"/>
              <a:t>niezalez</a:t>
            </a:r>
            <a:r>
              <a:rPr lang="pl-PL" sz="1800" dirty="0" err="1"/>
              <a:t>̇ne</a:t>
            </a:r>
            <a:r>
              <a:rPr lang="pl-PL" sz="1800" dirty="0"/>
              <a:t> </a:t>
            </a:r>
            <a:r>
              <a:rPr lang="pl-PL" sz="1800" dirty="0" err="1"/>
              <a:t>wielkości</a:t>
            </a:r>
            <a:r>
              <a:rPr lang="pl-PL" sz="1800" dirty="0"/>
              <a:t> </a:t>
            </a:r>
            <a:r>
              <a:rPr lang="pl-PL" sz="1800" dirty="0" err="1"/>
              <a:t>wejściowe</a:t>
            </a:r>
            <a:r>
              <a:rPr lang="pl-PL" sz="1800" dirty="0"/>
              <a:t>: </a:t>
            </a:r>
            <a:r>
              <a:rPr lang="pl-PL" sz="1800" dirty="0" smtClean="0"/>
              <a:t>X = [</a:t>
            </a:r>
            <a:r>
              <a:rPr lang="pl-PL" sz="1800" dirty="0" err="1" smtClean="0"/>
              <a:t>x</a:t>
            </a:r>
            <a:r>
              <a:rPr lang="pl-PL" sz="1800" baseline="-25000" dirty="0" err="1" smtClean="0"/>
              <a:t>k</a:t>
            </a:r>
            <a:r>
              <a:rPr lang="pl-PL" sz="1800" dirty="0" smtClean="0"/>
              <a:t>], </a:t>
            </a:r>
            <a:r>
              <a:rPr lang="pl-PL" sz="1800" dirty="0"/>
              <a:t>k = </a:t>
            </a:r>
            <a:r>
              <a:rPr lang="pl-PL" sz="1800" dirty="0" smtClean="0"/>
              <a:t>1,2,...,s</a:t>
            </a:r>
            <a:r>
              <a:rPr lang="pl-PL" sz="1800" dirty="0"/>
              <a:t>,</a:t>
            </a:r>
          </a:p>
          <a:p>
            <a:r>
              <a:rPr lang="pl-PL" sz="1800" dirty="0" err="1" smtClean="0"/>
              <a:t>zalez</a:t>
            </a:r>
            <a:r>
              <a:rPr lang="pl-PL" sz="1800" dirty="0" err="1"/>
              <a:t>̇ne</a:t>
            </a:r>
            <a:r>
              <a:rPr lang="pl-PL" sz="1800" dirty="0"/>
              <a:t> </a:t>
            </a:r>
            <a:r>
              <a:rPr lang="pl-PL" sz="1800" dirty="0" err="1"/>
              <a:t>wielkości</a:t>
            </a:r>
            <a:r>
              <a:rPr lang="pl-PL" sz="1800" dirty="0"/>
              <a:t> </a:t>
            </a:r>
            <a:r>
              <a:rPr lang="pl-PL" sz="1800" dirty="0" err="1"/>
              <a:t>wyjściowe</a:t>
            </a:r>
            <a:r>
              <a:rPr lang="pl-PL" sz="1800" dirty="0"/>
              <a:t>: </a:t>
            </a:r>
            <a:r>
              <a:rPr lang="pl-PL" sz="1800" dirty="0" smtClean="0"/>
              <a:t>Y = [</a:t>
            </a:r>
            <a:r>
              <a:rPr lang="pl-PL" sz="1800" dirty="0" err="1" smtClean="0"/>
              <a:t>y</a:t>
            </a:r>
            <a:r>
              <a:rPr lang="pl-PL" sz="1800" baseline="-25000" dirty="0" err="1" smtClean="0"/>
              <a:t>p</a:t>
            </a:r>
            <a:r>
              <a:rPr lang="pl-PL" sz="1800" dirty="0" smtClean="0"/>
              <a:t>], </a:t>
            </a:r>
            <a:r>
              <a:rPr lang="pl-PL" sz="1800" dirty="0"/>
              <a:t>p = </a:t>
            </a:r>
            <a:r>
              <a:rPr lang="pl-PL" sz="1800" dirty="0" smtClean="0"/>
              <a:t>1,2,...,w</a:t>
            </a:r>
            <a:r>
              <a:rPr lang="pl-PL" sz="1800" dirty="0"/>
              <a:t>,</a:t>
            </a:r>
          </a:p>
          <a:p>
            <a:r>
              <a:rPr lang="pl-PL" sz="1800" dirty="0" smtClean="0"/>
              <a:t>wielkości </a:t>
            </a:r>
            <a:r>
              <a:rPr lang="pl-PL" sz="1800" dirty="0"/>
              <a:t>stałe C</a:t>
            </a:r>
            <a:r>
              <a:rPr lang="pl-PL" sz="1800" dirty="0" smtClean="0"/>
              <a:t> = [c</a:t>
            </a:r>
            <a:r>
              <a:rPr lang="pl-PL" sz="1800" baseline="-25000" dirty="0" smtClean="0"/>
              <a:t>i</a:t>
            </a:r>
            <a:r>
              <a:rPr lang="pl-PL" sz="1800" dirty="0" smtClean="0"/>
              <a:t>], </a:t>
            </a:r>
          </a:p>
          <a:p>
            <a:r>
              <a:rPr lang="pl-PL" sz="1800" dirty="0" smtClean="0"/>
              <a:t>wielkości </a:t>
            </a:r>
            <a:r>
              <a:rPr lang="pl-PL" sz="1800" dirty="0" err="1" smtClean="0"/>
              <a:t>zakłócaja</a:t>
            </a:r>
            <a:r>
              <a:rPr lang="pl-PL" sz="1800" dirty="0" err="1"/>
              <a:t>̨ce</a:t>
            </a:r>
            <a:r>
              <a:rPr lang="pl-PL" sz="1800" dirty="0"/>
              <a:t> </a:t>
            </a:r>
            <a:r>
              <a:rPr lang="pl-PL" sz="1800" dirty="0" smtClean="0"/>
              <a:t>Z = [</a:t>
            </a:r>
            <a:r>
              <a:rPr lang="pl-PL" sz="1800" dirty="0" err="1" smtClean="0"/>
              <a:t>z</a:t>
            </a:r>
            <a:r>
              <a:rPr lang="pl-PL" sz="1800" baseline="-25000" dirty="0" err="1" smtClean="0"/>
              <a:t>j</a:t>
            </a:r>
            <a:r>
              <a:rPr lang="pl-PL" sz="1800" dirty="0"/>
              <a:t>]</a:t>
            </a:r>
            <a:r>
              <a:rPr lang="pl-PL" sz="1800" dirty="0" smtClean="0"/>
              <a:t>,</a:t>
            </a:r>
            <a:endParaRPr lang="pl-PL" sz="1800" dirty="0"/>
          </a:p>
        </p:txBody>
      </p:sp>
      <p:sp>
        <p:nvSpPr>
          <p:cNvPr id="4" name="Prostokąt 3"/>
          <p:cNvSpPr/>
          <p:nvPr/>
        </p:nvSpPr>
        <p:spPr>
          <a:xfrm>
            <a:off x="3023828" y="4473116"/>
            <a:ext cx="2628292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 smtClean="0"/>
              <a:t>OBIEKT</a:t>
            </a:r>
          </a:p>
          <a:p>
            <a:pPr algn="ctr"/>
            <a:r>
              <a:rPr lang="pl-PL" dirty="0" smtClean="0"/>
              <a:t>(C)</a:t>
            </a:r>
            <a:endParaRPr lang="pl-PL" dirty="0"/>
          </a:p>
        </p:txBody>
      </p:sp>
      <p:cxnSp>
        <p:nvCxnSpPr>
          <p:cNvPr id="8" name="Łącznik prosty ze strzałką 7"/>
          <p:cNvCxnSpPr/>
          <p:nvPr/>
        </p:nvCxnSpPr>
        <p:spPr>
          <a:xfrm>
            <a:off x="3707904" y="3789040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/>
          <p:cNvCxnSpPr/>
          <p:nvPr/>
        </p:nvCxnSpPr>
        <p:spPr>
          <a:xfrm>
            <a:off x="1567402" y="47436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/>
          <p:cNvCxnSpPr/>
          <p:nvPr/>
        </p:nvCxnSpPr>
        <p:spPr>
          <a:xfrm>
            <a:off x="1567402" y="49595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>
            <a:off x="1567402" y="5420010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/>
          <p:cNvCxnSpPr/>
          <p:nvPr/>
        </p:nvCxnSpPr>
        <p:spPr>
          <a:xfrm>
            <a:off x="3959932" y="3799768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/>
          <p:cNvCxnSpPr/>
          <p:nvPr/>
        </p:nvCxnSpPr>
        <p:spPr>
          <a:xfrm>
            <a:off x="5634118" y="47436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/>
          <p:cNvCxnSpPr/>
          <p:nvPr/>
        </p:nvCxnSpPr>
        <p:spPr>
          <a:xfrm>
            <a:off x="5634118" y="4959598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/>
          <p:cNvCxnSpPr/>
          <p:nvPr/>
        </p:nvCxnSpPr>
        <p:spPr>
          <a:xfrm>
            <a:off x="5634118" y="5420010"/>
            <a:ext cx="145642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ze strzałką 17"/>
          <p:cNvCxnSpPr/>
          <p:nvPr/>
        </p:nvCxnSpPr>
        <p:spPr>
          <a:xfrm>
            <a:off x="5004048" y="3789040"/>
            <a:ext cx="18002" cy="684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oleTekstowe 18"/>
          <p:cNvSpPr txBox="1"/>
          <p:nvPr/>
        </p:nvSpPr>
        <p:spPr>
          <a:xfrm>
            <a:off x="2225441" y="4969160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 b="1" dirty="0" smtClean="0"/>
              <a:t>.</a:t>
            </a:r>
          </a:p>
          <a:p>
            <a:r>
              <a:rPr lang="pl-PL" sz="800" b="1" dirty="0" smtClean="0"/>
              <a:t>.</a:t>
            </a:r>
          </a:p>
          <a:p>
            <a:r>
              <a:rPr lang="pl-PL" sz="800" b="1" dirty="0" smtClean="0"/>
              <a:t>.</a:t>
            </a:r>
          </a:p>
        </p:txBody>
      </p:sp>
      <p:sp>
        <p:nvSpPr>
          <p:cNvPr id="20" name="PoleTekstowe 19"/>
          <p:cNvSpPr txBox="1"/>
          <p:nvPr/>
        </p:nvSpPr>
        <p:spPr>
          <a:xfrm>
            <a:off x="6148811" y="4958345"/>
            <a:ext cx="21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 b="1" dirty="0" smtClean="0"/>
              <a:t>.</a:t>
            </a:r>
          </a:p>
          <a:p>
            <a:r>
              <a:rPr lang="pl-PL" sz="800" b="1" dirty="0" smtClean="0"/>
              <a:t>.</a:t>
            </a:r>
          </a:p>
          <a:p>
            <a:r>
              <a:rPr lang="pl-PL" sz="800" b="1" dirty="0" smtClean="0"/>
              <a:t>.</a:t>
            </a:r>
          </a:p>
        </p:txBody>
      </p:sp>
      <p:sp>
        <p:nvSpPr>
          <p:cNvPr id="21" name="PoleTekstowe 20"/>
          <p:cNvSpPr txBox="1"/>
          <p:nvPr/>
        </p:nvSpPr>
        <p:spPr>
          <a:xfrm>
            <a:off x="4337974" y="395557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smtClean="0"/>
              <a:t>…</a:t>
            </a:r>
            <a:endParaRPr lang="pl-PL" dirty="0"/>
          </a:p>
        </p:txBody>
      </p:sp>
      <p:sp>
        <p:nvSpPr>
          <p:cNvPr id="22" name="PoleTekstowe 21"/>
          <p:cNvSpPr txBox="1"/>
          <p:nvPr/>
        </p:nvSpPr>
        <p:spPr>
          <a:xfrm>
            <a:off x="1151620" y="496916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X</a:t>
            </a:r>
            <a:endParaRPr lang="pl-PL" dirty="0"/>
          </a:p>
        </p:txBody>
      </p:sp>
      <p:sp>
        <p:nvSpPr>
          <p:cNvPr id="23" name="PoleTekstowe 22"/>
          <p:cNvSpPr txBox="1"/>
          <p:nvPr/>
        </p:nvSpPr>
        <p:spPr>
          <a:xfrm flipH="1">
            <a:off x="4311818" y="3622702"/>
            <a:ext cx="50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mtClean="0"/>
              <a:t>Z</a:t>
            </a:r>
            <a:endParaRPr lang="pl-PL"/>
          </a:p>
        </p:txBody>
      </p:sp>
      <p:sp>
        <p:nvSpPr>
          <p:cNvPr id="24" name="PoleTekstowe 23"/>
          <p:cNvSpPr txBox="1"/>
          <p:nvPr/>
        </p:nvSpPr>
        <p:spPr>
          <a:xfrm>
            <a:off x="7344308" y="4900518"/>
            <a:ext cx="66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mtClean="0"/>
              <a:t>Y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9257462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 smtClean="0"/>
              <a:t>Uwagi o wielkościach wyjściowych</a:t>
            </a:r>
            <a:endParaRPr lang="pl-PL" b="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1800" dirty="0" err="1" smtClean="0"/>
              <a:t>wielkości</a:t>
            </a:r>
            <a:r>
              <a:rPr lang="pl-PL" sz="1800" dirty="0" smtClean="0"/>
              <a:t> </a:t>
            </a:r>
            <a:r>
              <a:rPr lang="pl-PL" sz="1800" dirty="0" err="1"/>
              <a:t>wejściowe</a:t>
            </a:r>
            <a:r>
              <a:rPr lang="pl-PL" sz="1800" dirty="0"/>
              <a:t>: </a:t>
            </a:r>
            <a:r>
              <a:rPr lang="pl-PL" sz="1800" dirty="0" smtClean="0"/>
              <a:t>X = [</a:t>
            </a:r>
            <a:r>
              <a:rPr lang="pl-PL" sz="1800" dirty="0" err="1" smtClean="0"/>
              <a:t>x</a:t>
            </a:r>
            <a:r>
              <a:rPr lang="pl-PL" sz="1800" baseline="-25000" dirty="0" err="1" smtClean="0"/>
              <a:t>k</a:t>
            </a:r>
            <a:r>
              <a:rPr lang="pl-PL" sz="1800" dirty="0" smtClean="0"/>
              <a:t>], </a:t>
            </a:r>
            <a:r>
              <a:rPr lang="pl-PL" sz="1800" dirty="0"/>
              <a:t>k = </a:t>
            </a:r>
            <a:r>
              <a:rPr lang="pl-PL" sz="1800" dirty="0" smtClean="0"/>
              <a:t>1,2,...,s</a:t>
            </a:r>
            <a:r>
              <a:rPr lang="pl-PL" sz="1800" dirty="0" smtClean="0"/>
              <a:t>, mogą być parametrami rozkładów pewnej zmiennej losowej </a:t>
            </a:r>
            <a:r>
              <a:rPr lang="pl-PL" sz="1800" dirty="0" err="1" smtClean="0"/>
              <a:t>U</a:t>
            </a:r>
            <a:r>
              <a:rPr lang="pl-PL" sz="1800" baseline="-25000" dirty="0" err="1" smtClean="0"/>
              <a:t>k</a:t>
            </a:r>
            <a:r>
              <a:rPr lang="pl-PL" sz="1800" dirty="0" smtClean="0"/>
              <a:t> charakteryzującej nasz obiekt</a:t>
            </a:r>
            <a:endParaRPr lang="pl-PL" sz="1800" dirty="0"/>
          </a:p>
          <a:p>
            <a:r>
              <a:rPr lang="pl-PL" sz="1800" dirty="0"/>
              <a:t>j</a:t>
            </a:r>
            <a:r>
              <a:rPr lang="pl-PL" sz="1800" dirty="0" smtClean="0"/>
              <a:t>eśli </a:t>
            </a:r>
            <a:r>
              <a:rPr lang="pl-PL" sz="1800" dirty="0" err="1" smtClean="0"/>
              <a:t>U</a:t>
            </a:r>
            <a:r>
              <a:rPr lang="pl-PL" sz="1800" baseline="-25000" dirty="0" err="1" smtClean="0"/>
              <a:t>k</a:t>
            </a:r>
            <a:r>
              <a:rPr lang="pl-PL" sz="1800" dirty="0" smtClean="0"/>
              <a:t> jest zmienną losową to każde uruchomienie symulacji odbywa się dla innych realizacji zmiennych losowych, a zatem dla jednego układu eksperymentu należy przeprowadzić wiele uruchomień symulacji (N),</a:t>
            </a:r>
          </a:p>
          <a:p>
            <a:r>
              <a:rPr lang="pl-PL" sz="1800" dirty="0"/>
              <a:t>w</a:t>
            </a:r>
            <a:r>
              <a:rPr lang="pl-PL" sz="1800" dirty="0" smtClean="0"/>
              <a:t> efekcie za każdym razem możemy uzyskać inne wartości wielkości wyjściowych Y,</a:t>
            </a:r>
          </a:p>
          <a:p>
            <a:r>
              <a:rPr lang="pl-PL" sz="1800" dirty="0"/>
              <a:t>n</a:t>
            </a:r>
            <a:r>
              <a:rPr lang="pl-PL" sz="1800" dirty="0" smtClean="0"/>
              <a:t>ależy zwrócić uwagę, że skoro </a:t>
            </a:r>
            <a:r>
              <a:rPr lang="pl-PL" sz="1800" dirty="0" smtClean="0"/>
              <a:t>Y</a:t>
            </a:r>
            <a:r>
              <a:rPr lang="pl-PL" sz="1800" dirty="0" smtClean="0"/>
              <a:t> zależy od U to Y jest także zmienną losową, ale składowe Y nie są zmiennymi losowymi niezależnymi o identycznych rozkładach (IID),</a:t>
            </a:r>
            <a:endParaRPr lang="pl-PL" sz="1800" dirty="0"/>
          </a:p>
          <a:p>
            <a:r>
              <a:rPr lang="pl-PL" sz="1800" dirty="0"/>
              <a:t>d</a:t>
            </a:r>
            <a:r>
              <a:rPr lang="pl-PL" sz="1800" dirty="0" smtClean="0"/>
              <a:t>latego w analizie wyników należy ostrożnie dobierać metody statyczne,</a:t>
            </a:r>
          </a:p>
          <a:p>
            <a:endParaRPr lang="pl-PL" sz="1800" dirty="0" smtClean="0"/>
          </a:p>
          <a:p>
            <a:r>
              <a:rPr lang="pl-PL" sz="1800" dirty="0"/>
              <a:t>z</a:t>
            </a:r>
            <a:r>
              <a:rPr lang="pl-PL" sz="1800" dirty="0" smtClean="0"/>
              <a:t> kolei d</a:t>
            </a:r>
            <a:r>
              <a:rPr lang="pl-PL" sz="1800" dirty="0" smtClean="0"/>
              <a:t>la dwóch różnych uruchomień symulacji dla danego układu eksperymentu możemy przyjąć, że te same składowe Y (tj. </a:t>
            </a:r>
            <a:r>
              <a:rPr lang="pl-PL" sz="1800" dirty="0" err="1"/>
              <a:t>y</a:t>
            </a:r>
            <a:r>
              <a:rPr lang="pl-PL" sz="1800" baseline="-25000" dirty="0" err="1" smtClean="0"/>
              <a:t>p</a:t>
            </a:r>
            <a:r>
              <a:rPr lang="pl-PL" sz="1800" dirty="0" smtClean="0"/>
              <a:t>) są zmiennymi niezależnymi o identycznym rozkładzie (będziemy oznaczać </a:t>
            </a:r>
            <a:r>
              <a:rPr lang="pl-PL" sz="1800" dirty="0" err="1" smtClean="0"/>
              <a:t>y</a:t>
            </a:r>
            <a:r>
              <a:rPr lang="pl-PL" sz="1800" baseline="-25000" dirty="0" err="1" smtClean="0"/>
              <a:t>pn</a:t>
            </a:r>
            <a:r>
              <a:rPr lang="pl-PL" sz="1800" dirty="0" smtClean="0"/>
              <a:t> wartość </a:t>
            </a:r>
            <a:r>
              <a:rPr lang="pl-PL" sz="1800" dirty="0" err="1" smtClean="0"/>
              <a:t>y</a:t>
            </a:r>
            <a:r>
              <a:rPr lang="pl-PL" sz="1800" baseline="-25000" dirty="0" err="1" smtClean="0"/>
              <a:t>p</a:t>
            </a:r>
            <a:r>
              <a:rPr lang="pl-PL" sz="1800" dirty="0" smtClean="0"/>
              <a:t> pochodzącą z n-tego uruchomienia symulacji)</a:t>
            </a:r>
          </a:p>
        </p:txBody>
      </p:sp>
    </p:spTree>
    <p:extLst>
      <p:ext uri="{BB962C8B-B14F-4D97-AF65-F5344CB8AC3E}">
        <p14:creationId xmlns:p14="http://schemas.microsoft.com/office/powerpoint/2010/main" val="1059433835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Klasyczne metody statystyczne analizy wyników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 smtClean="0"/>
              <a:t>Dla niezależnych zmiennych losowych o identycznych rozkładach </a:t>
            </a:r>
            <a:r>
              <a:rPr lang="pl-PL" sz="2800" dirty="0" err="1" smtClean="0"/>
              <a:t>y</a:t>
            </a:r>
            <a:r>
              <a:rPr lang="pl-PL" sz="2800" baseline="-25000" dirty="0" err="1" smtClean="0"/>
              <a:t>pn</a:t>
            </a:r>
            <a:r>
              <a:rPr lang="pl-PL" sz="2800" baseline="-25000" dirty="0" smtClean="0"/>
              <a:t> </a:t>
            </a:r>
            <a:r>
              <a:rPr lang="pl-PL" sz="2800" dirty="0" smtClean="0"/>
              <a:t>zachodzi:</a:t>
            </a:r>
            <a:endParaRPr lang="pl-PL" sz="2800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rostokąt 3"/>
              <p:cNvSpPr/>
              <p:nvPr/>
            </p:nvSpPr>
            <p:spPr>
              <a:xfrm>
                <a:off x="1583668" y="3104964"/>
                <a:ext cx="5364596" cy="3459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accPr>
                            <m:e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𝑝</m:t>
                          </m:r>
                        </m:sub>
                      </m:sSub>
                      <m:r>
                        <a:rPr lang="pl-PL" sz="2400" i="1">
                          <a:effectLst/>
                          <a:latin typeface="Cambria Math" charset="0"/>
                          <a:ea typeface="Calibri" charset="0"/>
                          <a:cs typeface="Times New Roman" charset="0"/>
                        </a:rPr>
                        <m:t>(</m:t>
                      </m:r>
                      <m:r>
                        <a:rPr lang="pl-PL" sz="2400" i="1">
                          <a:effectLst/>
                          <a:latin typeface="Cambria Math" charset="0"/>
                          <a:ea typeface="Calibri" charset="0"/>
                          <a:cs typeface="Times New Roman" charset="0"/>
                        </a:rPr>
                        <m:t>𝑁</m:t>
                      </m:r>
                      <m:r>
                        <a:rPr lang="pl-PL" sz="2400" i="1">
                          <a:effectLst/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f>
                        <m:f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naryPr>
                            <m:sub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𝑝𝑛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pl-PL" sz="2400" dirty="0">
                    <a:effectLst/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pl-PL" sz="2400" dirty="0">
                    <a:effectLst/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accPr>
                            <m:e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𝑝</m:t>
                          </m:r>
                        </m:sub>
                      </m:sSub>
                      <m:r>
                        <a:rPr lang="pl-PL" sz="2400" i="1">
                          <a:effectLst/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f>
                        <m:f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naryPr>
                            <m:sub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  <m:t>[</m:t>
                                      </m:r>
                                      <m: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  <m:t>𝑝𝑛</m:t>
                                      </m:r>
                                    </m:sub>
                                  </m:sSub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l-PL" sz="2400" i="1">
                                              <a:effectLst/>
                                              <a:latin typeface="Cambria Math" charset="0"/>
                                              <a:ea typeface="Calibri" charset="0"/>
                                              <a:cs typeface="Times New Roman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l-PL" sz="2400" i="1">
                                              <a:effectLst/>
                                              <a:latin typeface="Cambria Math" charset="0"/>
                                              <a:ea typeface="Calibri" charset="0"/>
                                              <a:cs typeface="Times New Roman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l-PL" sz="2400" i="1">
                                          <a:effectLst/>
                                          <a:latin typeface="Cambria Math" charset="0"/>
                                          <a:ea typeface="Calibri" charset="0"/>
                                          <a:cs typeface="Times New Roman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(</m:t>
                                  </m:r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𝑁</m:t>
                                  </m:r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𝑁</m:t>
                          </m:r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pl-PL" sz="2400" dirty="0">
                    <a:effectLst/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accPr>
                            <m:e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𝑁</m:t>
                          </m:r>
                        </m:e>
                      </m:d>
                      <m:r>
                        <a:rPr lang="pl-PL" sz="2400" i="1">
                          <a:effectLst/>
                          <a:latin typeface="Cambria Math" charset="0"/>
                          <a:ea typeface="Calibri" charset="0"/>
                          <a:cs typeface="Times New Roman" charset="0"/>
                        </a:rPr>
                        <m:t>±</m:t>
                      </m:r>
                      <m:sSub>
                        <m:sSubPr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𝑡</m:t>
                          </m:r>
                        </m:e>
                        <m:sub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𝑛</m:t>
                          </m:r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−1,1−</m:t>
                          </m:r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𝛼</m:t>
                          </m:r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/2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pl-PL" sz="2400" i="1">
                                      <a:effectLst/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pl-PL" sz="2400" i="1">
                                  <a:effectLst/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)/</m:t>
                          </m:r>
                          <m:r>
                            <a:rPr lang="pl-PL" sz="2400" i="1">
                              <a:effectLst/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pl-PL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</p:txBody>
          </p:sp>
        </mc:Choice>
        <mc:Fallback>
          <p:sp>
            <p:nvSpPr>
              <p:cNvPr id="4" name="Prostoką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68" y="3104964"/>
                <a:ext cx="5364596" cy="345934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13825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Analiza symulacji systemów warunkowo zdarzeniowych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 dirty="0"/>
              <a:t>s</a:t>
            </a:r>
            <a:r>
              <a:rPr lang="pl-PL" sz="2400" dirty="0" smtClean="0"/>
              <a:t>ymulacja z określonym zakończeniem - zdefiniowane jest zdarzenie, które kończy symulację (</a:t>
            </a:r>
            <a:r>
              <a:rPr lang="pl-PL" sz="2400" dirty="0" err="1" smtClean="0"/>
              <a:t>terminating</a:t>
            </a:r>
            <a:r>
              <a:rPr lang="pl-PL" sz="2400" dirty="0" smtClean="0"/>
              <a:t>)</a:t>
            </a:r>
          </a:p>
          <a:p>
            <a:pPr lvl="1"/>
            <a:r>
              <a:rPr lang="pl-PL" sz="2000" dirty="0"/>
              <a:t>z</a:t>
            </a:r>
            <a:r>
              <a:rPr lang="pl-PL" sz="2000" dirty="0" smtClean="0"/>
              <a:t>darzenie kończące symulację jest określone </a:t>
            </a:r>
            <a:r>
              <a:rPr lang="pl-PL" sz="2000" dirty="0" err="1" smtClean="0"/>
              <a:t>apriori</a:t>
            </a:r>
            <a:r>
              <a:rPr lang="pl-PL" sz="2000" dirty="0" smtClean="0"/>
              <a:t>, czas trwania symulacji może być losowy</a:t>
            </a:r>
          </a:p>
          <a:p>
            <a:r>
              <a:rPr lang="pl-PL" sz="2400" dirty="0"/>
              <a:t>s</a:t>
            </a:r>
            <a:r>
              <a:rPr lang="pl-PL" sz="2400" dirty="0" smtClean="0"/>
              <a:t>ymulacja bez określonego momentu zakończenia (</a:t>
            </a:r>
            <a:r>
              <a:rPr lang="pl-PL" sz="2400" dirty="0" err="1" smtClean="0"/>
              <a:t>nonterminating</a:t>
            </a:r>
            <a:r>
              <a:rPr lang="pl-PL" sz="2400" dirty="0" smtClean="0"/>
              <a:t>), wówczas analizujemy system w stanie ustalonym</a:t>
            </a:r>
            <a:r>
              <a:rPr lang="pl-PL" sz="2400" dirty="0"/>
              <a:t/>
            </a:r>
            <a:br>
              <a:rPr lang="pl-PL" sz="2400" dirty="0"/>
            </a:br>
            <a:r>
              <a:rPr lang="pl-PL" sz="2000" dirty="0" smtClean="0"/>
              <a:t>np. niech Y</a:t>
            </a:r>
            <a:r>
              <a:rPr lang="pl-PL" sz="2000" baseline="-25000" dirty="0" smtClean="0"/>
              <a:t>1</a:t>
            </a:r>
            <a:r>
              <a:rPr lang="pl-PL" sz="2000" dirty="0" smtClean="0"/>
              <a:t>, Y</a:t>
            </a:r>
            <a:r>
              <a:rPr lang="pl-PL" sz="2000" baseline="-25000" dirty="0" smtClean="0"/>
              <a:t>2</a:t>
            </a:r>
            <a:r>
              <a:rPr lang="pl-PL" sz="2000" dirty="0" smtClean="0"/>
              <a:t>, </a:t>
            </a:r>
            <a:r>
              <a:rPr lang="is-IS" sz="2000" dirty="0" smtClean="0"/>
              <a:t>… oznaczają wartości jakiejś wielkości wyjściowej w kolejnych chwilach czasu oraz niech I oznacza warunki początkowe symulacji, oznaczmy:</a:t>
            </a:r>
            <a:br>
              <a:rPr lang="is-IS" sz="2000" dirty="0" smtClean="0"/>
            </a:br>
            <a:r>
              <a:rPr lang="is-IS" sz="2000" dirty="0" smtClean="0"/>
              <a:t/>
            </a:r>
            <a:br>
              <a:rPr lang="is-IS" sz="2000" dirty="0" smtClean="0"/>
            </a:br>
            <a:r>
              <a:rPr lang="is-IS" sz="2000" dirty="0" smtClean="0"/>
              <a:t/>
            </a:r>
            <a:br>
              <a:rPr lang="is-IS" sz="2000" dirty="0" smtClean="0"/>
            </a:br>
            <a:r>
              <a:rPr lang="pl-PL" sz="2000" dirty="0" smtClean="0"/>
              <a:t>stan ustalony (</a:t>
            </a:r>
            <a:r>
              <a:rPr lang="pl-PL" sz="2000" dirty="0" err="1" smtClean="0"/>
              <a:t>steady-state</a:t>
            </a:r>
            <a:r>
              <a:rPr lang="pl-PL" sz="2000" dirty="0" smtClean="0"/>
              <a:t>)</a:t>
            </a:r>
            <a:endParaRPr lang="pl-PL" sz="2400" baseline="-25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rostokąt 3"/>
              <p:cNvSpPr/>
              <p:nvPr/>
            </p:nvSpPr>
            <p:spPr>
              <a:xfrm>
                <a:off x="3131840" y="5477990"/>
                <a:ext cx="259346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pl-PL" sz="200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00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pl-PL" sz="20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pl-PL" sz="2000" i="1">
                                  <a:latin typeface="Cambria Math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pl-PL" sz="2000" i="1">
                                  <a:latin typeface="Cambria Math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pl-PL" sz="2000" i="0">
                              <a:latin typeface="Cambria Math" charset="0"/>
                            </a:rPr>
                            <m:t>=</m:t>
                          </m:r>
                          <m:r>
                            <a:rPr lang="pl-PL" sz="2000" i="1">
                              <a:latin typeface="Cambria Math" charset="0"/>
                            </a:rPr>
                            <m:t>𝑃</m:t>
                          </m:r>
                          <m:r>
                            <a:rPr lang="pl-PL" sz="2000" i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l-PL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pl-PL" sz="2000" i="1">
                                  <a:latin typeface="Cambria Math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l-PL" sz="20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sz="2000" i="0">
                              <a:latin typeface="Cambria Math" charset="0"/>
                            </a:rPr>
                            <m:t>≤</m:t>
                          </m:r>
                          <m:r>
                            <a:rPr lang="pl-PL" sz="2000" i="1">
                              <a:latin typeface="Cambria Math" charset="0"/>
                            </a:rPr>
                            <m:t>𝑦</m:t>
                          </m:r>
                          <m:r>
                            <a:rPr lang="pl-PL" sz="2000" i="0">
                              <a:latin typeface="Cambria Math" charset="0"/>
                            </a:rPr>
                            <m:t>|</m:t>
                          </m:r>
                          <m:r>
                            <a:rPr lang="pl-PL" sz="2000" i="1">
                              <a:latin typeface="Cambria Math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pl-PL" sz="2000" dirty="0"/>
              </a:p>
            </p:txBody>
          </p:sp>
        </mc:Choice>
        <mc:Fallback>
          <p:sp>
            <p:nvSpPr>
              <p:cNvPr id="4" name="Prostoką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5477990"/>
                <a:ext cx="2593467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124615" r="-21176" b="-19692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rostokąt 4"/>
              <p:cNvSpPr/>
              <p:nvPr/>
            </p:nvSpPr>
            <p:spPr>
              <a:xfrm>
                <a:off x="3131840" y="6413266"/>
                <a:ext cx="29803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00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l-PL" sz="2000" i="1">
                              <a:latin typeface="Cambria Math" charset="0"/>
                            </a:rPr>
                            <m:t>𝐹</m:t>
                          </m:r>
                        </m:e>
                        <m:sub>
                          <m:r>
                            <a:rPr lang="pl-PL" sz="20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l-PL" sz="20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charset="0"/>
                            </a:rPr>
                            <m:t>𝑦</m:t>
                          </m:r>
                        </m:e>
                        <m:e>
                          <m:r>
                            <a:rPr lang="pl-PL" sz="2000" i="1">
                              <a:latin typeface="Cambria Math" charset="0"/>
                            </a:rPr>
                            <m:t>𝐼</m:t>
                          </m:r>
                        </m:e>
                      </m:d>
                      <m:r>
                        <a:rPr lang="pl-PL" sz="2000" i="0">
                          <a:latin typeface="Cambria Math" charset="0"/>
                        </a:rPr>
                        <m:t>→</m:t>
                      </m:r>
                      <m:r>
                        <a:rPr lang="pl-PL" sz="2000" i="1">
                          <a:latin typeface="Cambria Math" charset="0"/>
                        </a:rPr>
                        <m:t>𝐹</m:t>
                      </m:r>
                      <m:d>
                        <m:dPr>
                          <m:ctrlPr>
                            <a:rPr lang="pl-PL" sz="20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pl-PL" sz="2000" i="1">
                              <a:latin typeface="Cambria Math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pl-PL" sz="2000">
                          <a:latin typeface="Cambria Math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pl-PL" sz="2000">
                          <a:latin typeface="Cambria Math" charset="0"/>
                        </a:rPr>
                        <m:t>gdy</m:t>
                      </m:r>
                      <m:r>
                        <m:rPr>
                          <m:nor/>
                        </m:rPr>
                        <a:rPr lang="pl-PL" sz="2000" i="1">
                          <a:latin typeface="Cambria Math" charset="0"/>
                        </a:rPr>
                        <m:t> </m:t>
                      </m:r>
                      <m:r>
                        <a:rPr lang="pl-PL" sz="2000" i="1">
                          <a:latin typeface="Cambria Math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pl-PL" sz="2000" i="1">
                          <a:latin typeface="Cambria Math" charset="0"/>
                        </a:rPr>
                        <m:t>→∞</m:t>
                      </m:r>
                    </m:oMath>
                  </m:oMathPara>
                </a14:m>
                <a:endParaRPr lang="pl-PL" sz="2000" dirty="0"/>
              </a:p>
            </p:txBody>
          </p:sp>
        </mc:Choice>
        <mc:Fallback>
          <p:sp>
            <p:nvSpPr>
              <p:cNvPr id="5" name="Prostoką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6413266"/>
                <a:ext cx="2980368" cy="400110"/>
              </a:xfrm>
              <a:prstGeom prst="rect">
                <a:avLst/>
              </a:prstGeom>
              <a:blipFill rotWithShape="0">
                <a:blip r:embed="rId4"/>
                <a:stretch>
                  <a:fillRect t="-95455" b="-12727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175270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Analiza wyników symulacji z określonym zakończeniem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600" dirty="0" smtClean="0"/>
              <a:t>Przykład:</a:t>
            </a:r>
          </a:p>
          <a:p>
            <a:r>
              <a:rPr lang="pl-PL" sz="1600" dirty="0" smtClean="0"/>
              <a:t>Montownia montuje produkt z elementów, które dostarczane są w pewnych odstępach czasu (zmienna losowa o rozkładzie wykładniczym i wartości oczekiwanej = 1 min). </a:t>
            </a:r>
          </a:p>
          <a:p>
            <a:r>
              <a:rPr lang="pl-PL" sz="1600" dirty="0" smtClean="0"/>
              <a:t>Czas trwania procesu wytwarzania jest zmienną losową o rozkładzie U(0.65, 0.7) [minut]. </a:t>
            </a:r>
          </a:p>
          <a:p>
            <a:r>
              <a:rPr lang="pl-PL" sz="1600" dirty="0" smtClean="0"/>
              <a:t>Produkt podlega kontroli jakości, której czas jest zmienną losową o rozkładzie U(0.75, 0.8) [min.]. </a:t>
            </a:r>
          </a:p>
          <a:p>
            <a:r>
              <a:rPr lang="pl-PL" sz="1600" dirty="0" smtClean="0"/>
              <a:t>Wśród produktów średnio 10% nie przechodzi kontroli jakości i musi zostać odesłana do ponownego montażu.</a:t>
            </a:r>
          </a:p>
          <a:p>
            <a:r>
              <a:rPr lang="pl-PL" sz="1600" dirty="0" smtClean="0"/>
              <a:t>Maszyna montująca psuje się średnio po 6 godzinach (zgodnie z rozkładem wykładniczym). </a:t>
            </a:r>
          </a:p>
          <a:p>
            <a:r>
              <a:rPr lang="pl-PL" sz="1600" dirty="0" smtClean="0"/>
              <a:t>Czas trwania naprawy jest zmienną losową U(8, 12) [min.]. Naprawiona maszyna kontynuuje rozpoczętą pracę sprzed usterki.</a:t>
            </a:r>
          </a:p>
          <a:p>
            <a:r>
              <a:rPr lang="pl-PL" sz="1600" dirty="0" smtClean="0"/>
              <a:t>Na początku maszyna jest gotowa i nie wykonuje żadnych prac.</a:t>
            </a:r>
          </a:p>
          <a:p>
            <a:r>
              <a:rPr lang="pl-PL" sz="1600" dirty="0" smtClean="0"/>
              <a:t>Montownia dostaje zamówienie na 2000 szt. </a:t>
            </a:r>
            <a:r>
              <a:rPr lang="pl-PL" sz="1600" dirty="0"/>
              <a:t>p</a:t>
            </a:r>
            <a:r>
              <a:rPr lang="pl-PL" sz="1600" dirty="0" smtClean="0"/>
              <a:t>roduktu.</a:t>
            </a:r>
          </a:p>
          <a:p>
            <a:pPr marL="0" indent="0">
              <a:buNone/>
            </a:pPr>
            <a:r>
              <a:rPr lang="pl-PL" sz="1600" b="1" dirty="0" smtClean="0"/>
              <a:t>Zadanie: oszacować czas realizacji zamówienia na poziomie ufności 95%.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85955613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wyników symulacji z określonym </a:t>
            </a:r>
            <a:r>
              <a:rPr lang="pl-PL" dirty="0" smtClean="0"/>
              <a:t>zakończeniem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 smtClean="0"/>
              <a:t>Dla 10 uruchomień uzyskaliśmy następujące wyniki:</a:t>
            </a:r>
          </a:p>
          <a:p>
            <a:endParaRPr lang="pl-PL" sz="2800" dirty="0"/>
          </a:p>
          <a:p>
            <a:endParaRPr lang="pl-PL" sz="2800" dirty="0" smtClean="0"/>
          </a:p>
          <a:p>
            <a:endParaRPr lang="pl-PL" sz="2800" dirty="0"/>
          </a:p>
          <a:p>
            <a:r>
              <a:rPr lang="pl-PL" sz="2800" dirty="0" smtClean="0"/>
              <a:t>Posługując się analizą statystyczną</a:t>
            </a:r>
            <a:br>
              <a:rPr lang="pl-PL" sz="2800" dirty="0" smtClean="0"/>
            </a:br>
            <a:r>
              <a:rPr lang="pl-PL" sz="2800" dirty="0" smtClean="0"/>
              <a:t/>
            </a:r>
            <a:br>
              <a:rPr lang="pl-PL" sz="2800" dirty="0" smtClean="0"/>
            </a:br>
            <a:r>
              <a:rPr lang="pl-PL" sz="2800" dirty="0" smtClean="0"/>
              <a:t>czyli:</a:t>
            </a:r>
          </a:p>
          <a:p>
            <a:pPr marL="0" indent="0">
              <a:buNone/>
            </a:pPr>
            <a:r>
              <a:rPr lang="is-IS" sz="2800" dirty="0" smtClean="0">
                <a:latin typeface="Trebuchet MS" charset="0"/>
                <a:ea typeface="Trebuchet MS" charset="0"/>
                <a:cs typeface="Trebuchet MS" charset="0"/>
              </a:rPr>
              <a:t>		E(T)=33.25 (+-0,56)</a:t>
            </a:r>
            <a:endParaRPr lang="pl-PL" sz="2800" dirty="0" smtClean="0"/>
          </a:p>
        </p:txBody>
      </p:sp>
      <p:sp>
        <p:nvSpPr>
          <p:cNvPr id="4" name="Prostokąt 3"/>
          <p:cNvSpPr/>
          <p:nvPr/>
        </p:nvSpPr>
        <p:spPr>
          <a:xfrm>
            <a:off x="1043608" y="2926655"/>
            <a:ext cx="67327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1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=32.62,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2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=32.57,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3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=33.51,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4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=33.29,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5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=32.10,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6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=34.24,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7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=32.70,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8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=33.49,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9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 33.36 , T</a:t>
            </a:r>
            <a:r>
              <a:rPr lang="hr-HR" sz="1050" dirty="0">
                <a:latin typeface="Trebuchet MS" charset="0"/>
                <a:ea typeface="Trebuchet MS" charset="0"/>
                <a:cs typeface="Trebuchet MS" charset="0"/>
              </a:rPr>
              <a:t>10 </a:t>
            </a:r>
            <a:r>
              <a:rPr lang="hr-HR" sz="2800" dirty="0">
                <a:latin typeface="Trebuchet MS" charset="0"/>
                <a:ea typeface="Trebuchet MS" charset="0"/>
                <a:cs typeface="Trebuchet MS" charset="0"/>
              </a:rPr>
              <a:t>= 34.61 </a:t>
            </a:r>
          </a:p>
        </p:txBody>
      </p:sp>
      <p:sp>
        <p:nvSpPr>
          <p:cNvPr id="5" name="Prostokąt 4"/>
          <p:cNvSpPr/>
          <p:nvPr/>
        </p:nvSpPr>
        <p:spPr>
          <a:xfrm>
            <a:off x="2393349" y="4809545"/>
            <a:ext cx="48605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s-IS" sz="2800" dirty="0">
                <a:latin typeface="Trebuchet MS" charset="0"/>
                <a:ea typeface="Trebuchet MS" charset="0"/>
                <a:cs typeface="Trebuchet MS" charset="0"/>
              </a:rPr>
              <a:t>T(10)=33.25, </a:t>
            </a:r>
            <a:r>
              <a:rPr lang="is-IS" sz="2800" dirty="0" smtClean="0">
                <a:latin typeface="Trebuchet MS" charset="0"/>
                <a:ea typeface="Trebuchet MS" charset="0"/>
                <a:cs typeface="Trebuchet MS" charset="0"/>
              </a:rPr>
              <a:t>S</a:t>
            </a:r>
            <a:r>
              <a:rPr lang="is-IS" sz="2800" baseline="30000" dirty="0" smtClean="0">
                <a:latin typeface="Trebuchet MS" charset="0"/>
                <a:ea typeface="Trebuchet MS" charset="0"/>
                <a:cs typeface="Trebuchet MS" charset="0"/>
              </a:rPr>
              <a:t>2</a:t>
            </a:r>
            <a:r>
              <a:rPr lang="is-IS" sz="2800" dirty="0" smtClean="0">
                <a:latin typeface="Trebuchet MS" charset="0"/>
                <a:ea typeface="Trebuchet MS" charset="0"/>
                <a:cs typeface="Trebuchet MS" charset="0"/>
              </a:rPr>
              <a:t>(10</a:t>
            </a:r>
            <a:r>
              <a:rPr lang="is-IS" sz="2800" dirty="0">
                <a:latin typeface="Trebuchet MS" charset="0"/>
                <a:ea typeface="Trebuchet MS" charset="0"/>
                <a:cs typeface="Trebuchet MS" charset="0"/>
              </a:rPr>
              <a:t>)=0.606 </a:t>
            </a:r>
          </a:p>
        </p:txBody>
      </p:sp>
    </p:spTree>
    <p:extLst>
      <p:ext uri="{BB962C8B-B14F-4D97-AF65-F5344CB8AC3E}">
        <p14:creationId xmlns:p14="http://schemas.microsoft.com/office/powerpoint/2010/main" val="1971187786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Analiza wyników symulacji </a:t>
            </a:r>
            <a:r>
              <a:rPr lang="pl-PL" dirty="0"/>
              <a:t>bez określonego momentu zakończenia 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 smtClean="0"/>
              <a:t>Y</a:t>
            </a:r>
            <a:r>
              <a:rPr lang="pl-PL" sz="2800" baseline="-25000" dirty="0" smtClean="0"/>
              <a:t>1</a:t>
            </a:r>
            <a:r>
              <a:rPr lang="pl-PL" sz="2800" dirty="0" smtClean="0"/>
              <a:t>, Y</a:t>
            </a:r>
            <a:r>
              <a:rPr lang="pl-PL" sz="2800" baseline="-25000" dirty="0" smtClean="0"/>
              <a:t>2</a:t>
            </a:r>
            <a:r>
              <a:rPr lang="pl-PL" sz="2800" dirty="0" smtClean="0"/>
              <a:t>, </a:t>
            </a:r>
            <a:r>
              <a:rPr lang="is-IS" sz="2800" dirty="0" smtClean="0"/>
              <a:t>…</a:t>
            </a:r>
            <a:r>
              <a:rPr lang="pl-PL" sz="2800" dirty="0" smtClean="0"/>
              <a:t> - wartości wielkości wyjściowej w kolejnych chwilach czasu (proces stochastyczny)</a:t>
            </a:r>
          </a:p>
          <a:p>
            <a:r>
              <a:rPr lang="pl-PL" sz="2800" dirty="0" smtClean="0"/>
              <a:t>Szukamy v = lim E[</a:t>
            </a:r>
            <a:r>
              <a:rPr lang="pl-PL" sz="2800" dirty="0" err="1" smtClean="0"/>
              <a:t>Yi</a:t>
            </a:r>
            <a:r>
              <a:rPr lang="pl-PL" sz="2800" dirty="0" smtClean="0"/>
              <a:t>]</a:t>
            </a:r>
          </a:p>
          <a:p>
            <a:r>
              <a:rPr lang="pl-PL" sz="2800" dirty="0" smtClean="0"/>
              <a:t>Jak sobie z tym poradzić?</a:t>
            </a:r>
          </a:p>
          <a:p>
            <a:r>
              <a:rPr lang="pl-PL" sz="2800" dirty="0" smtClean="0"/>
              <a:t>Np. metoda rozgrzewającego się modelu:</a:t>
            </a:r>
          </a:p>
          <a:p>
            <a:endParaRPr lang="pl-PL" sz="2800" dirty="0"/>
          </a:p>
          <a:p>
            <a:pPr marL="0" indent="0">
              <a:buNone/>
            </a:pPr>
            <a:endParaRPr lang="pl-PL" sz="2800" dirty="0"/>
          </a:p>
          <a:p>
            <a:r>
              <a:rPr lang="pl-PL" sz="2800" dirty="0" smtClean="0"/>
              <a:t>Ale: jakie wybrać l („okres rozgrzewania się”) oraz m?</a:t>
            </a:r>
            <a:endParaRPr lang="pl-PL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rostokąt 3"/>
              <p:cNvSpPr/>
              <p:nvPr/>
            </p:nvSpPr>
            <p:spPr>
              <a:xfrm>
                <a:off x="3383868" y="4509120"/>
                <a:ext cx="2634632" cy="8340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l-PL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accPr>
                            <m:e>
                              <m:r>
                                <a:rPr lang="pl-PL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𝑚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,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𝑙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)</m:t>
                          </m:r>
                        </m:sub>
                      </m:sSub>
                      <m:r>
                        <a:rPr lang="pl-PL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f>
                        <m:fPr>
                          <m:ctrlPr>
                            <a:rPr lang="pl-PL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pl-PL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pl-PL" sz="2400" b="0" i="1" smtClean="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𝑝</m:t>
                              </m:r>
                              <m:r>
                                <a:rPr lang="pl-PL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=</m:t>
                              </m:r>
                              <m:r>
                                <a:rPr lang="pl-PL" sz="2400" b="0" i="1" smtClean="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𝑙</m:t>
                              </m:r>
                              <m:r>
                                <a:rPr lang="pl-PL" sz="2400" b="0" i="1" smtClean="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pl-PL" sz="2400" b="0" i="1" smtClean="0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sz="2400" i="1">
                                      <a:latin typeface="Cambria Math" charset="0"/>
                                      <a:ea typeface="Calibri" charset="0"/>
                                      <a:cs typeface="Times New Roman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𝑚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−</m:t>
                          </m:r>
                          <m:r>
                            <a:rPr lang="pl-PL" sz="2400" b="0" i="1" smtClean="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pl-PL" sz="2400" dirty="0"/>
              </a:p>
            </p:txBody>
          </p:sp>
        </mc:Choice>
        <mc:Fallback>
          <p:sp>
            <p:nvSpPr>
              <p:cNvPr id="4" name="Prostoką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68" y="4509120"/>
                <a:ext cx="2634632" cy="8340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964185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wyników symulacji bez określonego momentu zakończenia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l-PL" sz="2800" dirty="0" smtClean="0">
                    <a:ea typeface="Calibri" charset="0"/>
                    <a:cs typeface="Times New Roman" charset="0"/>
                  </a:rPr>
                  <a:t>Niech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pl-PL" sz="2800" b="0" i="1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  <m:t>𝑞</m:t>
                        </m:r>
                        <m:r>
                          <a:rPr lang="pl-PL" sz="2800" b="0" i="1" baseline="-25000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  <m:t>𝑖</m:t>
                        </m:r>
                        <m:r>
                          <a:rPr lang="pl-PL" sz="2800" b="0" i="1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</m:ctrlPr>
                          </m:accPr>
                          <m:e>
                            <m: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d>
                          <m:dPr>
                            <m:ctrlP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</m:ctrlPr>
                          </m:dPr>
                          <m:e>
                            <m: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  <m:t>𝑚</m:t>
                            </m:r>
                            <m: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  <m:t>,</m:t>
                            </m:r>
                            <m:r>
                              <a:rPr lang="pl-PL" sz="2800" i="1">
                                <a:latin typeface="Cambria Math" charset="0"/>
                                <a:ea typeface="Calibri" charset="0"/>
                                <a:cs typeface="Times New Roman" charset="0"/>
                              </a:rPr>
                              <m:t>𝑙</m:t>
                            </m:r>
                          </m:e>
                        </m:d>
                        <m:r>
                          <a:rPr lang="pl-PL" sz="2800" b="0" i="1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  <m:t>,</m:t>
                        </m:r>
                        <m:r>
                          <a:rPr lang="pl-PL" sz="2800" b="0" i="1" smtClean="0">
                            <a:latin typeface="Cambria Math" charset="0"/>
                            <a:ea typeface="Calibri" charset="0"/>
                            <a:cs typeface="Times New Roman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2800" dirty="0" smtClean="0"/>
                  <a:t> będzie estymatorem wartości oczekiwanej </a:t>
                </a:r>
                <a:r>
                  <a:rPr lang="pl-PL" sz="2800" dirty="0" err="1" smtClean="0"/>
                  <a:t>y</a:t>
                </a:r>
                <a:r>
                  <a:rPr lang="pl-PL" sz="2800" baseline="-25000" dirty="0" err="1" smtClean="0"/>
                  <a:t>p</a:t>
                </a:r>
                <a:r>
                  <a:rPr lang="pl-PL" sz="2800" dirty="0" smtClean="0"/>
                  <a:t> dla </a:t>
                </a:r>
                <a:r>
                  <a:rPr lang="pl-PL" sz="2800" i="1" dirty="0" smtClean="0"/>
                  <a:t>i</a:t>
                </a:r>
                <a:r>
                  <a:rPr lang="pl-PL" sz="2800" dirty="0" smtClean="0"/>
                  <a:t>-tego uruchomienia.</a:t>
                </a:r>
              </a:p>
              <a:p>
                <a:r>
                  <a:rPr lang="pl-PL" sz="2800" dirty="0" smtClean="0"/>
                  <a:t>Zmienne </a:t>
                </a:r>
                <a:r>
                  <a:rPr lang="pl-PL" sz="2800" dirty="0" err="1" smtClean="0"/>
                  <a:t>q</a:t>
                </a:r>
                <a:r>
                  <a:rPr lang="pl-PL" sz="2800" baseline="-25000" dirty="0" err="1" smtClean="0"/>
                  <a:t>i</a:t>
                </a:r>
                <a:r>
                  <a:rPr lang="pl-PL" sz="2800" dirty="0" smtClean="0"/>
                  <a:t> są niezależne i mają </a:t>
                </a:r>
                <a:r>
                  <a:rPr lang="pl-PL" sz="2800" dirty="0" err="1" smtClean="0"/>
                  <a:t>identnyczne</a:t>
                </a:r>
                <a:r>
                  <a:rPr lang="pl-PL" sz="2800" dirty="0" smtClean="0"/>
                  <a:t> rozkłady, a zatem można posłużyć się tradycyjnymi metodami szacowania wartości oczekiwanej</a:t>
                </a:r>
                <a:endParaRPr lang="pl-PL" sz="2800" dirty="0"/>
              </a:p>
            </p:txBody>
          </p:sp>
        </mc:Choice>
        <mc:Fallback>
          <p:sp>
            <p:nvSpPr>
              <p:cNvPr id="3" name="Symbol zastępczy zawartości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75" t="-138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962008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Zagrożenia w analizie wyników symulacji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</a:t>
            </a:r>
            <a:r>
              <a:rPr lang="pl-PL" dirty="0" smtClean="0"/>
              <a:t>ałszywe założenie o I.I.D. </a:t>
            </a:r>
            <a:r>
              <a:rPr lang="pl-PL" dirty="0"/>
              <a:t>p</a:t>
            </a:r>
            <a:r>
              <a:rPr lang="pl-PL" dirty="0" smtClean="0"/>
              <a:t>ewnych wielkości,</a:t>
            </a:r>
          </a:p>
          <a:p>
            <a:r>
              <a:rPr lang="pl-PL" dirty="0"/>
              <a:t>t</a:t>
            </a:r>
            <a:r>
              <a:rPr lang="pl-PL" dirty="0" smtClean="0"/>
              <a:t>rudność w poprawnym oszacowaniu „czasu rozgrzewania się” modelu.</a:t>
            </a:r>
          </a:p>
        </p:txBody>
      </p:sp>
    </p:spTree>
    <p:extLst>
      <p:ext uri="{BB962C8B-B14F-4D97-AF65-F5344CB8AC3E}">
        <p14:creationId xmlns:p14="http://schemas.microsoft.com/office/powerpoint/2010/main" val="301141597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yklad1" id="{551E832A-925F-ED41-939C-D4BE2247C2B8}" vid="{39290E1C-1DF4-F940-ACC4-CD4362D23FD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A2E251144B404EA9E598855E9A21C4" ma:contentTypeVersion="3" ma:contentTypeDescription="Utwórz nowy dokument." ma:contentTypeScope="" ma:versionID="1d37c8d2fb4cd0d149ca48afa945a1d9">
  <xsd:schema xmlns:xsd="http://www.w3.org/2001/XMLSchema" xmlns:xs="http://www.w3.org/2001/XMLSchema" xmlns:p="http://schemas.microsoft.com/office/2006/metadata/properties" xmlns:ns2="e4e4be2c-45ae-4625-bc62-f1f615e37b29" targetNamespace="http://schemas.microsoft.com/office/2006/metadata/properties" ma:root="true" ma:fieldsID="637b2a164887443e1c89543e6bc475df" ns2:_="">
    <xsd:import namespace="e4e4be2c-45ae-4625-bc62-f1f615e37b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4be2c-45ae-4625-bc62-f1f615e37b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77A6E1-7E83-461B-B693-3F44582592AA}"/>
</file>

<file path=customXml/itemProps2.xml><?xml version="1.0" encoding="utf-8"?>
<ds:datastoreItem xmlns:ds="http://schemas.openxmlformats.org/officeDocument/2006/customXml" ds:itemID="{C16E7C2D-64B0-4C8A-A753-B85CC3738304}"/>
</file>

<file path=customXml/itemProps3.xml><?xml version="1.0" encoding="utf-8"?>
<ds:datastoreItem xmlns:ds="http://schemas.openxmlformats.org/officeDocument/2006/customXml" ds:itemID="{2DAEB0DD-397C-4429-A3BD-089189C376E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</TotalTime>
  <Words>845</Words>
  <Application>Microsoft Macintosh PowerPoint</Application>
  <PresentationFormat>Pokaz na ekranie (4:3)</PresentationFormat>
  <Paragraphs>103</Paragraphs>
  <Slides>10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6" baseType="lpstr">
      <vt:lpstr>Calibri</vt:lpstr>
      <vt:lpstr>Cambria Math</vt:lpstr>
      <vt:lpstr>Times New Roman</vt:lpstr>
      <vt:lpstr>Trebuchet MS</vt:lpstr>
      <vt:lpstr>Arial</vt:lpstr>
      <vt:lpstr>1_Projekt domyślny</vt:lpstr>
      <vt:lpstr>Symulacja Komputerowa Wykład 6: Analiza wyników symulacji</vt:lpstr>
      <vt:lpstr>Charakterystyka obiektu badań</vt:lpstr>
      <vt:lpstr>Uwagi o wielkościach wyjściowych</vt:lpstr>
      <vt:lpstr>Klasyczne metody statystyczne analizy wyników</vt:lpstr>
      <vt:lpstr>Analiza symulacji systemów warunkowo zdarzeniowych</vt:lpstr>
      <vt:lpstr>Analiza wyników symulacji z określonym zakończeniem</vt:lpstr>
      <vt:lpstr>Analiza wyników symulacji z określonym zakończeniem</vt:lpstr>
      <vt:lpstr>Analiza wyników symulacji bez określonego momentu zakończenia </vt:lpstr>
      <vt:lpstr>Analiza wyników symulacji bez określonego momentu zakończenia </vt:lpstr>
      <vt:lpstr>Zagrożenia w analizie wyników symulacji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Symulacja Komputerowa Wykład 1</dc:title>
  <dc:creator>Dariusz Gasior</dc:creator>
  <cp:lastModifiedBy>Dariusz Gasior</cp:lastModifiedBy>
  <cp:revision>198</cp:revision>
  <dcterms:created xsi:type="dcterms:W3CDTF">2015-10-06T14:07:00Z</dcterms:created>
  <dcterms:modified xsi:type="dcterms:W3CDTF">2015-12-08T12:03:57Z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0x0101003AA2E251144B404EA9E598855E9A21C4</vt:lpwstr>
  </property>
</Properties>
</file>